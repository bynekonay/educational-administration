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4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tags" Target="../tags/tag19.xml"/><Relationship Id="rId10" Type="http://schemas.openxmlformats.org/officeDocument/2006/relationships/tags" Target="../tags/tag2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Relationship Id="rId10" Type="http://schemas.openxmlformats.org/officeDocument/2006/relationships/tags" Target="../tags/tag30.xml"/><Relationship Id="rId11" Type="http://schemas.openxmlformats.org/officeDocument/2006/relationships/tags" Target="../tags/tag31.xml"/><Relationship Id="rId12" Type="http://schemas.openxmlformats.org/officeDocument/2006/relationships/tags" Target="../tags/tag32.xml"/><Relationship Id="rId13" Type="http://schemas.openxmlformats.org/officeDocument/2006/relationships/tags" Target="../tags/tag33.xml"/><Relationship Id="rId14" Type="http://schemas.openxmlformats.org/officeDocument/2006/relationships/tags" Target="../tags/tag34.xml"/><Relationship Id="rId15" Type="http://schemas.openxmlformats.org/officeDocument/2006/relationships/tags" Target="../tags/tag35.xml"/><Relationship Id="rId16" Type="http://schemas.openxmlformats.org/officeDocument/2006/relationships/tags" Target="../tags/tag36.xml"/><Relationship Id="rId17" Type="http://schemas.openxmlformats.org/officeDocument/2006/relationships/tags" Target="../tags/tag37.xml"/><Relationship Id="rId18" Type="http://schemas.openxmlformats.org/officeDocument/2006/relationships/tags" Target="../tags/tag38.xml"/><Relationship Id="rId19" Type="http://schemas.openxmlformats.org/officeDocument/2006/relationships/tags" Target="../tags/tag39.xml"/><Relationship Id="rId20" Type="http://schemas.openxmlformats.org/officeDocument/2006/relationships/tags" Target="../tags/tag40.xml"/><Relationship Id="rId21" Type="http://schemas.openxmlformats.org/officeDocument/2006/relationships/tags" Target="../tags/tag41.xml"/><Relationship Id="rId22" Type="http://schemas.openxmlformats.org/officeDocument/2006/relationships/tags" Target="../tags/tag42.xml"/><Relationship Id="rId23" Type="http://schemas.openxmlformats.org/officeDocument/2006/relationships/tags" Target="../tags/tag43.xml"/><Relationship Id="rId24" Type="http://schemas.openxmlformats.org/officeDocument/2006/relationships/tags" Target="../tags/tag44.xml"/><Relationship Id="rId25" Type="http://schemas.openxmlformats.org/officeDocument/2006/relationships/tags" Target="../tags/tag45.xml"/><Relationship Id="rId26" Type="http://schemas.openxmlformats.org/officeDocument/2006/relationships/tags" Target="../tags/tag46.xml"/><Relationship Id="rId27" Type="http://schemas.openxmlformats.org/officeDocument/2006/relationships/tags" Target="../tags/tag47.xml"/><Relationship Id="rId28" Type="http://schemas.openxmlformats.org/officeDocument/2006/relationships/tags" Target="../tags/tag48.xml"/><Relationship Id="rId29" Type="http://schemas.openxmlformats.org/officeDocument/2006/relationships/tags" Target="../tags/tag49.xml"/><Relationship Id="rId30" Type="http://schemas.openxmlformats.org/officeDocument/2006/relationships/tags" Target="../tags/tag50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3D7E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0"/>
            <a:ext cx="10973" cy="51435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502920"/>
            <a:ext cx="91440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攀枝花学院 · 本科毕业设计（论文）开题答辩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960120"/>
            <a:ext cx="3291840" cy="16459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艺体培训机构全流程教务管理平台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786384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的设计与实现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78638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F5EB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艺培通：面向中小型艺体培训机构的全链路教务管理平台 ——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3520440"/>
            <a:ext cx="4572000" cy="1005840"/>
          </a:xfrm>
          <a:prstGeom prst="roundRect">
            <a:avLst>
              <a:gd name="adj" fmla="val 4545"/>
            </a:avLst>
          </a:prstGeom>
          <a:solidFill>
            <a:srgbClr val="3D5A8C">
              <a:alpha val="65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3566160"/>
            <a:ext cx="45720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</a:t>
            </a:r>
            <a:r>
              <a:rPr lang="zh-CN" alt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罗斌洋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指导教师：</a:t>
            </a:r>
            <a:r>
              <a:rPr lang="zh-CN" alt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张会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
</a:t>
            </a:r>
            <a:r>
              <a:rPr lang="en-US" sz="12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专业：软件工程　｜　2026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20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" cy="41148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12618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选题背景与意义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910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行业特征与五类痛点 · 工程价值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26280" y="12618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2801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国内外研究现状与趋势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5910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国外智能排课 / 流失预测 · 国内点状成果 · 五大趋势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研究内容与目标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054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五类角色业务闭环 · 四类关键技术 · 容器化上线目标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21762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1945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技术路线与总体方案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5054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 · 五层架构 · 数据库 · 核心算法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0906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研究方法与可行性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198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文档驱动 + 核心链路优先 · 分层测试 · 三性分析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30906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31089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进度安排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4198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五个阶段：调研设计 → 编码联调 → 测试上线 → 论文答辩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4005072"/>
            <a:ext cx="685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30175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预期成果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334256"/>
            <a:ext cx="301752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可运行系统 · 数据库脚本 · 设计文档 · 测试报告 · 毕业论文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18120" y="384048"/>
            <a:ext cx="914400" cy="914400"/>
          </a:xfrm>
          <a:prstGeom prst="rect">
            <a:avLst/>
          </a:prstGeom>
          <a:solidFill>
            <a:srgbClr val="EEF1FB"/>
          </a:solidFill>
          <a:ln w="12700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818120" y="384048"/>
            <a:ext cx="9144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开题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选题背景与意义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335" y="658495"/>
            <a:ext cx="7593330" cy="4572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选题背景：教务管理为何是机构最容易出错的环节？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36192" cy="475488"/>
          </a:xfrm>
          <a:prstGeom prst="roundRect">
            <a:avLst>
              <a:gd name="adj" fmla="val 17308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17320"/>
            <a:ext cx="1536192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课程类型多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536192" cy="475488"/>
          </a:xfrm>
          <a:prstGeom prst="roundRect">
            <a:avLst>
              <a:gd name="adj" fmla="val 17308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03120" y="1417320"/>
            <a:ext cx="1536192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上课频次高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49040" y="1417320"/>
            <a:ext cx="1536192" cy="475488"/>
          </a:xfrm>
          <a:prstGeom prst="roundRect">
            <a:avLst>
              <a:gd name="adj" fmla="val 17308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49040" y="1417320"/>
            <a:ext cx="1536192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兼职老师多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417320"/>
            <a:ext cx="1536192" cy="475488"/>
          </a:xfrm>
          <a:prstGeom prst="roundRect">
            <a:avLst>
              <a:gd name="adj" fmla="val 17308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94960" y="1417320"/>
            <a:ext cx="1536192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学员未成年·请假频繁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1536192" cy="475488"/>
          </a:xfrm>
          <a:prstGeom prst="roundRect">
            <a:avLst>
              <a:gd name="adj" fmla="val 17308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40880" y="1417320"/>
            <a:ext cx="1536192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收入靠课时包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传统管理模式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22860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F5EBD3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77440" y="2286000"/>
            <a:ext cx="283464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电子表格 + 纸质登记本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329184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记录学员信息、课表、考勤与收费</a:t>
            </a:r>
            <a:endParaRPr lang="en-US" sz="1100" dirty="0"/>
          </a:p>
        </p:txBody>
      </p:sp>
      <p:sp>
        <p:nvSpPr>
          <p:cNvPr id="20" name="Text 18"/>
          <p:cNvSpPr/>
          <p:nvPr>
            <p:custDataLst>
              <p:tags r:id="rId1"/>
            </p:custDataLst>
          </p:nvPr>
        </p:nvSpPr>
        <p:spPr>
          <a:xfrm>
            <a:off x="457200" y="2999232"/>
            <a:ext cx="1554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数据分散</a:t>
            </a:r>
            <a:endParaRPr lang="en-US" sz="1150" dirty="0"/>
          </a:p>
        </p:txBody>
      </p:sp>
      <p:sp>
        <p:nvSpPr>
          <p:cNvPr id="21" name="Text 19"/>
          <p:cNvSpPr/>
          <p:nvPr>
            <p:custDataLst>
              <p:tags r:id="rId2"/>
            </p:custDataLst>
          </p:nvPr>
        </p:nvSpPr>
        <p:spPr>
          <a:xfrm>
            <a:off x="2057400" y="2999232"/>
            <a:ext cx="66294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学员、课表、考勤、收费散落多个表格与人员手中，流转靠人工传递，统计滞后</a:t>
            </a:r>
            <a:endParaRPr lang="en-US" sz="1050" dirty="0"/>
          </a:p>
        </p:txBody>
      </p:sp>
      <p:sp>
        <p:nvSpPr>
          <p:cNvPr id="22" name="Text 20"/>
          <p:cNvSpPr/>
          <p:nvPr>
            <p:custDataLst>
              <p:tags r:id="rId3"/>
            </p:custDataLst>
          </p:nvPr>
        </p:nvSpPr>
        <p:spPr>
          <a:xfrm>
            <a:off x="457200" y="3346704"/>
            <a:ext cx="1554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课时手工扣</a:t>
            </a:r>
            <a:endParaRPr lang="en-US" sz="1150" dirty="0"/>
          </a:p>
        </p:txBody>
      </p:sp>
      <p:sp>
        <p:nvSpPr>
          <p:cNvPr id="23" name="Text 21"/>
          <p:cNvSpPr/>
          <p:nvPr>
            <p:custDataLst>
              <p:tags r:id="rId4"/>
            </p:custDataLst>
          </p:nvPr>
        </p:nvSpPr>
        <p:spPr>
          <a:xfrm>
            <a:off x="2057400" y="3346704"/>
            <a:ext cx="66294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教务按考勤逐笔手工扣减课时，多学员多课程组合下极易误扣漏扣</a:t>
            </a:r>
            <a:endParaRPr lang="en-US" sz="1050" dirty="0"/>
          </a:p>
        </p:txBody>
      </p:sp>
      <p:sp>
        <p:nvSpPr>
          <p:cNvPr id="24" name="Text 22"/>
          <p:cNvSpPr/>
          <p:nvPr>
            <p:custDataLst>
              <p:tags r:id="rId5"/>
            </p:custDataLst>
          </p:nvPr>
        </p:nvSpPr>
        <p:spPr>
          <a:xfrm>
            <a:off x="457200" y="3694176"/>
            <a:ext cx="1554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排课靠经验</a:t>
            </a:r>
            <a:endParaRPr lang="en-US" sz="1150" dirty="0"/>
          </a:p>
        </p:txBody>
      </p:sp>
      <p:sp>
        <p:nvSpPr>
          <p:cNvPr id="25" name="Text 23"/>
          <p:cNvSpPr/>
          <p:nvPr>
            <p:custDataLst>
              <p:tags r:id="rId6"/>
            </p:custDataLst>
          </p:nvPr>
        </p:nvSpPr>
        <p:spPr>
          <a:xfrm>
            <a:off x="2057400" y="3694176"/>
            <a:ext cx="66294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教师、教室、班级的时间冲突难以一次暴露，只能在使用中被动发现</a:t>
            </a:r>
            <a:endParaRPr lang="en-US" sz="1050" dirty="0"/>
          </a:p>
        </p:txBody>
      </p:sp>
      <p:sp>
        <p:nvSpPr>
          <p:cNvPr id="26" name="Text 24"/>
          <p:cNvSpPr/>
          <p:nvPr>
            <p:custDataLst>
              <p:tags r:id="rId7"/>
            </p:custDataLst>
          </p:nvPr>
        </p:nvSpPr>
        <p:spPr>
          <a:xfrm>
            <a:off x="457200" y="4041648"/>
            <a:ext cx="1554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薪资人工汇总</a:t>
            </a:r>
            <a:endParaRPr lang="en-US" sz="1150" dirty="0"/>
          </a:p>
        </p:txBody>
      </p:sp>
      <p:sp>
        <p:nvSpPr>
          <p:cNvPr id="27" name="Text 25"/>
          <p:cNvSpPr/>
          <p:nvPr>
            <p:custDataLst>
              <p:tags r:id="rId8"/>
            </p:custDataLst>
          </p:nvPr>
        </p:nvSpPr>
        <p:spPr>
          <a:xfrm>
            <a:off x="2057400" y="4041648"/>
            <a:ext cx="66294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以课时为基础人工核算工资，既慢又易错，且缺乏可追溯明细</a:t>
            </a:r>
            <a:endParaRPr lang="en-US" sz="1050" dirty="0"/>
          </a:p>
        </p:txBody>
      </p:sp>
      <p:sp>
        <p:nvSpPr>
          <p:cNvPr id="28" name="Text 26"/>
          <p:cNvSpPr/>
          <p:nvPr>
            <p:custDataLst>
              <p:tags r:id="rId9"/>
            </p:custDataLst>
          </p:nvPr>
        </p:nvSpPr>
        <p:spPr>
          <a:xfrm>
            <a:off x="457200" y="4389120"/>
            <a:ext cx="1554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流失隐蔽</a:t>
            </a:r>
            <a:endParaRPr lang="en-US" sz="1150" dirty="0"/>
          </a:p>
        </p:txBody>
      </p:sp>
      <p:sp>
        <p:nvSpPr>
          <p:cNvPr id="29" name="Text 27"/>
          <p:cNvSpPr/>
          <p:nvPr>
            <p:custDataLst>
              <p:tags r:id="rId10"/>
            </p:custDataLst>
          </p:nvPr>
        </p:nvSpPr>
        <p:spPr>
          <a:xfrm>
            <a:off x="2057400" y="4389120"/>
            <a:ext cx="66294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学员流失等续费明显下滑才被察觉，往往已错失干预窗口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选题背景与意义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五类痛点：传统教务管理的核心问题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09344" cy="23774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1609344" cy="10972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37360"/>
            <a:ext cx="16093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240280"/>
            <a:ext cx="14630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834640"/>
            <a:ext cx="14630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统计滞后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218688"/>
            <a:ext cx="146304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多表多人各管一段，管理者难以及时掌握招生、到课、营收与流失状况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67128" y="1463040"/>
            <a:ext cx="1609344" cy="23774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67128" y="1463040"/>
            <a:ext cx="1609344" cy="10972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67128" y="1737360"/>
            <a:ext cx="16093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40280" y="2240280"/>
            <a:ext cx="14630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课时误扣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834640"/>
            <a:ext cx="14630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漏扣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3218688"/>
            <a:ext cx="146304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多学员、多课程的复杂组合下，手工扣减极易出错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77056" y="1463040"/>
            <a:ext cx="1609344" cy="23774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877056" y="1463040"/>
            <a:ext cx="1609344" cy="10972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77056" y="1737360"/>
            <a:ext cx="16093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50208" y="2240280"/>
            <a:ext cx="14630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冲突后知后觉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0208" y="2834640"/>
            <a:ext cx="14630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排课靠经验试错，教室与时段冲突到上课才发现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50208" y="3218688"/>
            <a:ext cx="146304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86984" y="1463040"/>
            <a:ext cx="1609344" cy="23774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586984" y="1463040"/>
            <a:ext cx="1609344" cy="10972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86984" y="1737360"/>
            <a:ext cx="16093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0136" y="2240280"/>
            <a:ext cx="14630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薪资慢且易错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0136" y="2834640"/>
            <a:ext cx="14630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缺明细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0136" y="3218688"/>
            <a:ext cx="146304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以课时为基础人工汇总，无逐项可追溯的工资构成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96912" y="1463040"/>
            <a:ext cx="1609344" cy="237744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296912" y="1463040"/>
            <a:ext cx="1609344" cy="10972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96912" y="1737360"/>
            <a:ext cx="16093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70064" y="2240280"/>
            <a:ext cx="14630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流失隐蔽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70064" y="2834640"/>
            <a:ext cx="14630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干预滞后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70064" y="3218688"/>
            <a:ext cx="146304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续费下滑才察觉，往往已错过干预窗口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随机构规模扩大，手工模式的人力成本与差错成本呈非线性上升——成为制约规模化、规范化运营的瓶颈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选题背景与意义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研究意义：以工程化手段解决实际管理难题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13332" y="1645920"/>
            <a:ext cx="585216" cy="585216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13332" y="1645920"/>
            <a:ext cx="585216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146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统一数据模型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将招生、排课、考勤、课时、财务、学情统一到同一系统与同一数据模型，流程标准化、口径一致化，消除信息孤岛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6704" y="14173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02836" y="1645920"/>
            <a:ext cx="585216" cy="585216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02836" y="1645920"/>
            <a:ext cx="585216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38144" y="2377440"/>
            <a:ext cx="25146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自动化降错提效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83864" y="288036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课时自动扣减、冲突检测与薪资自动核算，显著降低人工差错、提升运营效率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6208" y="14173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92340" y="1645920"/>
            <a:ext cx="585216" cy="585216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92340" y="1645920"/>
            <a:ext cx="585216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2377440"/>
            <a:ext cx="25146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数据驱动决策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288036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沉淀的业务数据支撑运营看板与流失预警，使机构由事后统计转向事前干预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5EBD3"/>
          </a:solidFill>
          <a:ln w="952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服务对象：中小型艺体培训机构 ｜ 现实意义：教务管理信息化是素质教育数字化的基础工程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国内外研究现状与趋势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国内外研究现状：点状成果丰富、整体系统缺失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98448"/>
            <a:ext cx="3931920" cy="41148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298448"/>
            <a:ext cx="393192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国外研究（起步早、聚焦两大方向）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智能排课：组合优化与启发式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遗传算法与动态规划混合求解，并以贪心完成教室分配；两阶段启发式以图着色聚类课程、以禁忌搜索分配时段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学员流失预测：机器学习视角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利用入学前多源信息构建早期预测并提取关键因子；综合学术、社会经济与公平因素，结合机器学习与生存分析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328416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对本课题的启示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602736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到课行为、参与程度与流失风险存在稳定关联 → 支持以到课沉寂度、缺勤倾向等因子刻画流失风险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solidFill>
            <a:srgbClr val="2E3D7E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国内研究（近年快速增多、覆盖多个环节）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排课与冲突检测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排课系统数据库设计与 B/S 实现；日程冲突检测抽象为时间区间重叠、以区间树高效实现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578608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可视化与学情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852928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数据管理平台的可视化应用；群体与个体行为融合的成绩预警模型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328416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核算与移动端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602736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高校新职工工资自动核算系统；基于 uni-app 的学生端小程序；B/S 架构教务管理系统；档案管理数字化系统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共性特征：多聚焦单一算法点或单一业务环节 —— 点状成果难以拼装为可用、可靠、可维护的整体系统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国内外研究现状与趋势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发展趋势与本研究缺口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36192" cy="502920"/>
          </a:xfrm>
          <a:prstGeom prst="roundRect">
            <a:avLst>
              <a:gd name="adj" fmla="val 16364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371600"/>
            <a:ext cx="1536192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全流程一体化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" y="1499616"/>
            <a:ext cx="2194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1536192" cy="502920"/>
          </a:xfrm>
          <a:prstGeom prst="roundRect">
            <a:avLst>
              <a:gd name="adj" fmla="val 16364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03120" y="1371600"/>
            <a:ext cx="1536192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事前预警干预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706" y="1490091"/>
            <a:ext cx="2194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36192" cy="502920"/>
          </a:xfrm>
          <a:prstGeom prst="roundRect">
            <a:avLst>
              <a:gd name="adj" fmla="val 16364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371600"/>
            <a:ext cx="1536192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移动优先多端协同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321" y="1490091"/>
            <a:ext cx="2194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1371600"/>
            <a:ext cx="1536192" cy="502920"/>
          </a:xfrm>
          <a:prstGeom prst="roundRect">
            <a:avLst>
              <a:gd name="adj" fmla="val 16364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94960" y="1371600"/>
            <a:ext cx="1536192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工程质量成底线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241" y="1499616"/>
            <a:ext cx="2194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536192" cy="502920"/>
          </a:xfrm>
          <a:prstGeom prst="roundRect">
            <a:avLst>
              <a:gd name="adj" fmla="val 16364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0" y="1371600"/>
            <a:ext cx="1536192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容器化持续交付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30771" y="1490091"/>
            <a:ext cx="2194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1993392"/>
            <a:ext cx="27432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五大趋势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2642616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971800"/>
            <a:ext cx="242316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缺少全链条工程化落地系统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3593592"/>
            <a:ext cx="24231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面向中小型艺体培训机构，覆盖招生、排课、考勤、课时、财务、学情全业务链条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46704" y="25146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83864" y="2642616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83864" y="2971800"/>
            <a:ext cx="242316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缺少统一数据模型闭环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83864" y="3593592"/>
            <a:ext cx="24231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以统一数据模型串联各环节并形成业务闭环的设计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6208" y="25146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73368" y="2642616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03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缺口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73368" y="2971800"/>
            <a:ext cx="242316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缺少工程质量保障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73368" y="3593592"/>
            <a:ext cx="24231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并发一致性、权限隔离与可维护性等工程质量属性上的系统性保障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4297680"/>
            <a:ext cx="8229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本研究定位：以工程化方式填补缺口 —— 完整系统 + 统一数据模型 + 工程质量保障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研究内容与目标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研究内容①：五类角色业务闭环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536192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600200"/>
            <a:ext cx="1536192" cy="4572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00200"/>
            <a:ext cx="153619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学员家长端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" y="2167128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139696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在线报名缴费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" y="2679192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51760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课表 / 学情查看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" y="3191256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163824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剩余课时与流水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" y="3703320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3675888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消息通知提醒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600200"/>
            <a:ext cx="1536192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103120" y="1600200"/>
            <a:ext cx="1536192" cy="4572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03120" y="1600200"/>
            <a:ext cx="153619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授课教师端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31136" y="2167128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377440" y="2139696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授课课表提醒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31136" y="2679192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377440" y="2651760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四态课堂考勤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1136" y="3191256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77440" y="3163824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作业上传点评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31136" y="3703320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377440" y="3675888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课时统计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1600200"/>
            <a:ext cx="1536192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749040" y="1600200"/>
            <a:ext cx="1536192" cy="4572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49040" y="1600200"/>
            <a:ext cx="153619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教务管理端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77056" y="2167128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023360" y="2139696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课程班级管理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77056" y="2679192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023360" y="2651760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智能排课调课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77056" y="3191256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23360" y="3163824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报名审核分班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77056" y="3703320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23360" y="3675888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考级管理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1600200"/>
            <a:ext cx="1536192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394960" y="1600200"/>
            <a:ext cx="1536192" cy="4572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94960" y="1600200"/>
            <a:ext cx="153619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财务管理端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522976" y="2167128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669280" y="2139696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收费续费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22976" y="2679192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69280" y="2651760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退费审核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22976" y="3191256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669280" y="3163824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薪资自动结算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22976" y="3703320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669280" y="3675888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营收统计报表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40880" y="1600200"/>
            <a:ext cx="1536192" cy="2606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040880" y="1600200"/>
            <a:ext cx="1536192" cy="457200"/>
          </a:xfrm>
          <a:prstGeom prst="rect">
            <a:avLst/>
          </a:prstGeom>
          <a:solidFill>
            <a:srgbClr val="2E3D7E"/>
          </a:solidFill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40880" y="1600200"/>
            <a:ext cx="153619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超级管理员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168896" y="2167128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15200" y="2139696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人员权限管理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168896" y="2679192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315200" y="2651760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机构配置公告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168896" y="3191256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315200" y="3163824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全局运营看板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68896" y="3703320"/>
            <a:ext cx="82296" cy="82296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315200" y="3675888"/>
            <a:ext cx="1152144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97280" y="1170432"/>
            <a:ext cx="6949440" cy="329184"/>
          </a:xfrm>
          <a:prstGeom prst="roundRect">
            <a:avLst>
              <a:gd name="adj" fmla="val 27778"/>
            </a:avLst>
          </a:prstGeom>
          <a:solidFill>
            <a:srgbClr val="F5EBD3"/>
          </a:solidFill>
          <a:ln w="952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097280" y="1170432"/>
            <a:ext cx="6949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统一数据模型（学员 / 课程 / 课次 / 考勤 / 课时 / 财务 / 薪资 / 通知）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五类角色经统一数据模型相互衔接，共同构成覆盖「招生 → 学情」的业务闭环；流程标准化、数据口径一致化，运营数据沉淀为决策依据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系统功能结构图</a:t>
            </a:r>
            <a:endParaRPr sz="2500" b="1">
              <a:solidFill>
                <a:srgbClr val="1E276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64063" y="149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27000" y="1552063"/>
            <a:ext cx="669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9063" y="156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063" y="193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00" y="1992063"/>
            <a:ext cx="111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9063" y="156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9063" y="193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52000" y="1992063"/>
            <a:ext cx="111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4063" y="156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64063" y="193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32000" y="1992063"/>
            <a:ext cx="148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2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6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9063" y="156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9063" y="193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82000" y="1992063"/>
            <a:ext cx="111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7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9063" y="156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063" y="193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2000" y="1992063"/>
            <a:ext cx="1110000" cy="1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5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64063" y="2000000"/>
            <a:ext cx="15875" cy="7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2000" y="1150000"/>
            <a:ext cx="33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艺体培训机构全流程教务管理平台</a:t>
            </a:r>
            <a:endParaRPr sz="13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12000" y="1630000"/>
            <a:ext cx="143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学员家长端</a:t>
            </a:r>
            <a:endParaRPr sz="11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1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在线报名缴费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8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课表学情查看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25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课时余额流水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62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到期消息提醒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092000" y="1630000"/>
            <a:ext cx="143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授课教师端</a:t>
            </a:r>
            <a:endParaRPr sz="11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09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授课课表提醒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6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调课申请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3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四态课堂考勤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20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学情课时统计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72000" y="1630000"/>
            <a:ext cx="180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教务管理端</a:t>
            </a:r>
            <a:endParaRPr sz="11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7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课程班级管理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4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智能排课调课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41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报名审核分班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8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考级管理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15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教务数据统计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622000" y="1630000"/>
            <a:ext cx="143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财务管理端</a:t>
            </a:r>
            <a:endParaRPr sz="11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62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收费与续费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99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退费审核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6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薪资自动结算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3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营收统计报表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202000" y="1630000"/>
            <a:ext cx="1430000" cy="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超级管理员</a:t>
            </a:r>
            <a:endParaRPr sz="11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20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人员权限管理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57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机构配置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94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公告管理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312000" y="2070000"/>
            <a:ext cx="32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lIns="18288" tIns="9144" rIns="18288" bIns="9144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全局运营看板</a:t>
            </a:r>
            <a:endParaRPr sz="105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7200" y="4100000"/>
            <a:ext cx="8229600" cy="2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1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五类角色 · 21 项功能，经统一数据模型衔接，覆盖「招生 → 学情」全流程</a:t>
            </a:r>
            <a:endParaRPr sz="1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9144" rIns="18288" bIns="9144" rtlCol="0" anchor="ctr"/>
          <a:lstStyle/>
          <a:p>
            <a:pPr algn="ctr"/>
            <a:r>
              <a:rPr sz="900" b="1">
                <a:solidFill>
                  <a:srgbClr val="8A93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sz="900" b="1">
              <a:solidFill>
                <a:srgbClr val="8A93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研究内容与目标</a:t>
            </a:r>
            <a:endParaRPr lang="en-US" sz="1000" b="1" kern="0" spc="100" dirty="0">
              <a:solidFill>
                <a:srgbClr val="C9A2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511810" y="4837430"/>
            <a:ext cx="6233160" cy="27876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研究内容与目标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研究内容②：四类关键技术问题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" y="1572768"/>
            <a:ext cx="457200" cy="45720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1572768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17904"/>
            <a:ext cx="31089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报名决策一致性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1901952"/>
            <a:ext cx="3063240" cy="7772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多方并发报名时课程名额、时间冲突与状态可能被重复读取，以报名决策快照 + 版本校验保证决策所依据的数据一致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28032" y="1572768"/>
            <a:ext cx="457200" cy="45720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28032" y="1572768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17904"/>
            <a:ext cx="31089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排课易用与并发冲突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01952"/>
            <a:ext cx="3063240" cy="7772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五维时间交叉冲突检测 + 拖拽快速调课提升易用性，以复合乐观并发条件防止同一状态下并发编辑相互覆盖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" y="3127248"/>
            <a:ext cx="457200" cy="45720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127248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072384"/>
            <a:ext cx="31089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薪资正确与不可篡改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3456432"/>
            <a:ext cx="3063240" cy="7772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状态机与并发控制相结合的核算体系，已确认薪资不被覆盖，后续变更以调整记录留痕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28032" y="3127248"/>
            <a:ext cx="457200" cy="457200"/>
          </a:xfrm>
          <a:prstGeom prst="rect">
            <a:avLst/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28032" y="3127248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072384"/>
            <a:ext cx="31089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运营决策能力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456432"/>
            <a:ext cx="3063240" cy="7772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以可解释的多因子规则构建学员流失预警，把运营统计由事后展示升级为事前流失干预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研究目标：完成开发与分层测试后，以容器化方式部署上线并稳定运行 —— 实现需求分析 → 设计实现 → 测试验收 → 生产上线的完整交付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技术路线与总体方案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技术路线：技术选型（B/S 前后端分离）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325880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管理后台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325880"/>
            <a:ext cx="3063240" cy="49377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91640" y="1325880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Vite + Pinia + Element Plus + ECharts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49377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1325880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承载大课表、薪资核算、运营看板等数据密集页面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856232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91640" y="1856232"/>
            <a:ext cx="306324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91640" y="1856232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uni-app（Vue 3）+ uView Plus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856232"/>
            <a:ext cx="393192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856232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H5 形态交付（保留编译小程序/App 能力），契合高频轻量场景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86584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386584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2386584"/>
            <a:ext cx="3063240" cy="49377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91640" y="2386584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3.2.5 + MyBatis-Plus 3.5.7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386584"/>
            <a:ext cx="3931920" cy="49377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2386584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 RESTful 接口；内置事务与安全，复杂统计 SQL 易表达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16936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2916936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91640" y="2916936"/>
            <a:ext cx="306324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691640" y="2916936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+ Flyway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916936"/>
            <a:ext cx="393192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54880" y="2916936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支撑课时、财务、薪资强一致场景；结构变更版本化迁移，防环境漂移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47288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3447288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 / 缓存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3447288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JWT（无状态）+</a:t>
            </a: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Redis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447288"/>
            <a:ext cx="3931920" cy="493776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54880" y="3447288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配合基于角色的接口鉴权实现五类角色权限隔离；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1234440" cy="493776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3977640"/>
            <a:ext cx="12344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91640" y="3977640"/>
            <a:ext cx="306324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691640" y="3977640"/>
            <a:ext cx="306324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容器化编排 + 反向代理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3931920" cy="493776"/>
          </a:xfrm>
          <a:prstGeom prst="rect">
            <a:avLst/>
          </a:prstGeom>
          <a:solidFill>
            <a:srgbClr val="EEF1FB"/>
          </a:solidFill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54880" y="3977640"/>
            <a:ext cx="3931920" cy="493776"/>
          </a:xfrm>
          <a:prstGeom prst="rect">
            <a:avLst/>
          </a:prstGeom>
          <a:noFill/>
        </p:spPr>
        <p:txBody>
          <a:bodyPr wrap="square" lIns="73152" tIns="73152" rIns="73152" bIns="73152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前后端分离容器部署，数据卷持久化，支撑可回滚持续交付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选型依据：团队熟悉度、生态成熟度与部署成本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技术路线与总体方案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总体架构：自顶向下五层分层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60704"/>
            <a:ext cx="18745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1060704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23160" y="1060704"/>
            <a:ext cx="6263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管理后台（Web）｜ 移动端（H5）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490472"/>
            <a:ext cx="18745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接口与鉴权层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1490472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23160" y="1490472"/>
            <a:ext cx="6263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请求接入 · JWT 身份认证 · 基于角色的权限校验（RBAC）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2E3D7E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1920240"/>
            <a:ext cx="18745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业务服务层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23160" y="1920240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423160" y="1920240"/>
            <a:ext cx="6263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按业务域组织：报名 / 排课 / 考勤 / 课时 / 财务 / 薪资 / 统计 等核心规则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2E3D7E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350008"/>
            <a:ext cx="18745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数据访问层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23160" y="2350008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23160" y="2350008"/>
            <a:ext cx="6263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数据库读写封装与聚合查询（MyBatis-Plus）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3D5A8C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2779776"/>
            <a:ext cx="18745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基础设施层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23160" y="2779776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23160" y="2779776"/>
            <a:ext cx="6263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rm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· 缓存 · 文件存储 · Flyway 迁移 · 可观测性支撑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各层只依赖其下层，职责单一、边界清晰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4360" y="3685032"/>
            <a:ext cx="795528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部署形态：请求经反向代理（HTTPS + JWT 鉴权）进入 Web 容器托管前端静态资源 → 业务接口转后端应用容器 → 后端访问数据库容器，数据卷持久化
</a:t>
            </a: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两类终端（管理后台 / 移动端）共用同一套后端业务规则，避免规则在两端重复实现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技术路线与总体方案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数据库设计思路：37 张表 · 八个业务域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表结构组织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298448"/>
            <a:ext cx="2743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围绕学员、课程、班级、课次、考勤、课时账户与流水、收费、退费、薪资与通知等核心业务实体建表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八域划分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865376"/>
            <a:ext cx="2743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围绕核心业务实体按八个业务域组织表结构（见右侧），职责边界清晰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关键约束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432304"/>
            <a:ext cx="2743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课时余额只由流水驱动变化，考勤扣减与流水一一对应，保证课时变动可追溯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唯一约束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999232"/>
            <a:ext cx="2743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同一报名仅一条待审核退费；同一教师同一月份仅一张有效结算单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索引策略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566160"/>
            <a:ext cx="2743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高频查询字段建立组合索引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1298448"/>
            <a:ext cx="379476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92040" y="1298448"/>
            <a:ext cx="3794760" cy="384048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92040" y="1298448"/>
            <a:ext cx="379476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八个业务域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4920" y="1874520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74920" y="1874520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用户权限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0568" y="1874520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30568" y="1874520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学员课程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532888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74920" y="2532888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排课调课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30568" y="2532888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30568" y="2532888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考勤学情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191256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74920" y="3191256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课时流水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30568" y="3191256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30568" y="3191256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财务薪资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3849624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74920" y="3849624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考级通知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30568" y="3849624"/>
            <a:ext cx="1609344" cy="512064"/>
          </a:xfrm>
          <a:prstGeom prst="roundRect">
            <a:avLst>
              <a:gd name="adj" fmla="val 125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30568" y="3849624"/>
            <a:ext cx="1609344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运营管理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技术路线与总体方案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核心算法与规则方案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9144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1572768"/>
            <a:ext cx="548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91056"/>
            <a:ext cx="13258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五维冲突检测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2057400"/>
            <a:ext cx="1755648" cy="1691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 / 教室 / 教室预约 / 班级 / 跨班学员五个时间交叉维度；冲突课次即时提示并不予保存；智能排课另按教室容量筛选可用教室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615184" y="137160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615184" y="1371600"/>
            <a:ext cx="2011680" cy="9144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24912" y="1572768"/>
            <a:ext cx="548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63824" y="1591056"/>
            <a:ext cx="13258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课时自动扣减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057400"/>
            <a:ext cx="1755648" cy="1691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以考勤状态为输入：到课与迟到扣减、请假经审批后不扣减；考勤记录、余额更新与流水写入处于同一事务，版本号乐观锁防并发覆盖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773168" y="137160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73168" y="1371600"/>
            <a:ext cx="2011680" cy="9144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82896" y="1572768"/>
            <a:ext cx="548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21808" y="1591056"/>
            <a:ext cx="13258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薪资核算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2057400"/>
            <a:ext cx="1755648" cy="1691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按课次 → 班级 → 课程 → 薪资规则的映射统计当月有效课时并自动计算应发金额；状态机管理，已确认单不允许直接覆盖，变更以调整记录叠加差额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931152" y="1371600"/>
            <a:ext cx="2011680" cy="2468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31152" y="1371600"/>
            <a:ext cx="2011680" cy="9144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40880" y="1572768"/>
            <a:ext cx="548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79792" y="1591056"/>
            <a:ext cx="13258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学员流失预警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9168" y="2057400"/>
            <a:ext cx="1755648" cy="1691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以到课沉寂度、缺勤倾向、课时余量与到期紧迫等因子评分分档，输出待跟进学员清单，支撑事前干预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核心算法设计原则：可解释、可实现、可测试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研究方法与可行性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研究方法与验证方案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84048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研究方法：文档驱动 · 核心链路优先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1810512"/>
            <a:ext cx="868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08760" y="1700784"/>
            <a:ext cx="2788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需求与设计文档先行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1993392"/>
            <a:ext cx="2788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先完成需求规格、概要/详细设计与算法文档，确定系统边界与口径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560320"/>
            <a:ext cx="868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2450592"/>
            <a:ext cx="2788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核心链路逐步实现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2788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按报名退费 → 排课调课 → 考勤课时 → 薪资核算 → 运营预警顺序实现并逐模块联调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1298448"/>
            <a:ext cx="393192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验证方案：分层测试 + 上线验证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47895" y="1707515"/>
            <a:ext cx="508000" cy="365760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单元测试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6916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后端核心纯逻辑（JUnit + Mockito）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2E3D7E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2148840"/>
            <a:ext cx="5029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1488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前端关键组件（Vitest）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621792" cy="365760"/>
          </a:xfrm>
          <a:prstGeom prst="roundRect">
            <a:avLst>
              <a:gd name="adj" fmla="val 10000"/>
            </a:avLst>
          </a:prstGeom>
          <a:solidFill>
            <a:srgbClr val="2E3D7E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2606040"/>
            <a:ext cx="621792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接口验收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6060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前后端接口契约与业务链路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3D5A8C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54880" y="3063240"/>
            <a:ext cx="7498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 UI 验收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30632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真实部署环境自动化界面验收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3D5A8C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54880" y="3520440"/>
            <a:ext cx="9144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五角色权限验收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35204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 / 越权矩阵逐项验证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977640"/>
            <a:ext cx="1115568" cy="365760"/>
          </a:xfrm>
          <a:prstGeom prst="roundRect">
            <a:avLst>
              <a:gd name="adj" fmla="val 10000"/>
            </a:avLst>
          </a:prstGeom>
          <a:solidFill>
            <a:srgbClr val="C9A227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54880" y="3977640"/>
            <a:ext cx="111556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容器化上线验证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397764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部署至生产环境稳定运行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研究方法与可行性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可行性分析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85900" y="1737360"/>
            <a:ext cx="640080" cy="640080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85900" y="173736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所选框架与组件均为成熟开源方案；团队具备相应开发经验；四类关键技术问题均可通过已被工程实践验证的机制实现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194560" y="1682496"/>
            <a:ext cx="80467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6704" y="146304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75404" y="1737360"/>
            <a:ext cx="640080" cy="640080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75404" y="173736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46704" y="251460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经济可行性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3864" y="297180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系统采用开源技术栈与容器化部署，不依赖商业授权，成本可控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084064" y="1682496"/>
            <a:ext cx="80467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36208" y="146304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64908" y="1737360"/>
            <a:ext cx="640080" cy="640080"/>
          </a:xfrm>
          <a:prstGeom prst="rect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64908" y="173736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514600"/>
            <a:ext cx="26974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操作可行性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73368" y="2971800"/>
            <a:ext cx="2423160" cy="8686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管理后台面向复杂管理场景、移动端面向高频轻量场景，终端形态与岗位习惯匹配，便于机构人员上手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73568" y="1682496"/>
            <a:ext cx="80467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EF1FB"/>
          </a:solidFill>
          <a:ln w="9525">
            <a:solidFill>
              <a:srgbClr val="3D5A8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结论：技术、经济、操作三方面均可行，可进入设计与开发阶段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进度安排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进度安排（自 2026.07.02 定题 · 五个阶段）</a:t>
            </a:r>
            <a:endParaRPr lang="en-US" sz="2500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457200" y="1646428"/>
            <a:ext cx="2468880" cy="2377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选题定题与可行性研究</a:t>
            </a:r>
            <a:endParaRPr lang="en-US" sz="1050" b="1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457200" y="1828800"/>
            <a:ext cx="4761865" cy="395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明确系统边界与五类角色职责，完成可行性研究、需求调研与开题报告，确定技术路线</a:t>
            </a:r>
            <a:endParaRPr lang="en-US" sz="10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31130" y="1700530"/>
            <a:ext cx="2253615" cy="311785"/>
          </a:xfrm>
          <a:prstGeom prst="rect">
            <a:avLst/>
          </a:prstGeom>
          <a:solidFill>
            <a:srgbClr val="3D5A8C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51450" y="1701165"/>
            <a:ext cx="2258060" cy="3321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07.02 — 07.31</a:t>
            </a:r>
            <a:endParaRPr lang="en-US" sz="75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457200" y="2195068"/>
            <a:ext cx="2468880" cy="2377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需求分析与系统设计</a:t>
            </a:r>
            <a:endParaRPr lang="en-US" sz="1050" b="1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457200" y="2377440"/>
            <a:ext cx="4761865" cy="234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完成需求规格、概要/详细设计，确定数据库表结构、接口契约与核心算法方案</a:t>
            </a:r>
            <a:endParaRPr lang="en-US" sz="10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51450" y="2249805"/>
            <a:ext cx="2233295" cy="301625"/>
          </a:xfrm>
          <a:prstGeom prst="rect">
            <a:avLst/>
          </a:prstGeom>
          <a:solidFill>
            <a:srgbClr val="3D5A8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74945" y="2249170"/>
            <a:ext cx="2209800" cy="3022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08.01 — 08.31</a:t>
            </a:r>
            <a:endParaRPr lang="en-US" sz="75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457200" y="2743708"/>
            <a:ext cx="2468880" cy="2377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编码实现与模块联调</a:t>
            </a:r>
            <a:endParaRPr lang="en-US" sz="1050" b="1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457200" y="2926080"/>
            <a:ext cx="4761230" cy="2311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登录鉴权、报名收费、排课调课、考勤扣课时、退费薪资与统计看板，移动端补齐</a:t>
            </a:r>
            <a:endParaRPr lang="en-US" sz="9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48275" y="2797810"/>
            <a:ext cx="2236470" cy="273050"/>
          </a:xfrm>
          <a:prstGeom prst="rect">
            <a:avLst/>
          </a:prstGeom>
          <a:solidFill>
            <a:srgbClr val="3D5A8C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39385" y="2797810"/>
            <a:ext cx="2245360" cy="2413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09.01 — 10.31</a:t>
            </a:r>
            <a:endParaRPr lang="en-US" sz="750" dirty="0"/>
          </a:p>
        </p:txBody>
      </p:sp>
      <p:sp>
        <p:nvSpPr>
          <p:cNvPr id="18" name="Text 16"/>
          <p:cNvSpPr/>
          <p:nvPr>
            <p:custDataLst>
              <p:tags r:id="rId7"/>
            </p:custDataLst>
          </p:nvPr>
        </p:nvSpPr>
        <p:spPr>
          <a:xfrm>
            <a:off x="457200" y="3292348"/>
            <a:ext cx="2468880" cy="2377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系统测试与部署上线</a:t>
            </a:r>
            <a:endParaRPr lang="en-US" sz="1050" b="1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8"/>
            </p:custDataLst>
          </p:nvPr>
        </p:nvSpPr>
        <p:spPr>
          <a:xfrm>
            <a:off x="457200" y="3474720"/>
            <a:ext cx="4733290" cy="257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单元/接口/权限/UI 验收、缺陷修复，容器化部署上线验证</a:t>
            </a:r>
            <a:endParaRPr lang="en-US" sz="10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51450" y="3346450"/>
            <a:ext cx="2233295" cy="263525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70500" y="3346450"/>
            <a:ext cx="2214245" cy="2635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11.01 — 12.31</a:t>
            </a:r>
            <a:endParaRPr lang="en-US" sz="750" dirty="0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457200" y="3840988"/>
            <a:ext cx="2468880" cy="2377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论文撰写与毕业答辩</a:t>
            </a:r>
            <a:endParaRPr lang="en-US" sz="1050" b="1" dirty="0">
              <a:solidFill>
                <a:srgbClr val="1E276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457200" y="4023360"/>
            <a:ext cx="4733290" cy="2717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论文与查重校对、使用说明书、答辩材料与演示数据，完成毕业答辩</a:t>
            </a:r>
            <a:endParaRPr lang="en-US" sz="10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39385" y="3895090"/>
            <a:ext cx="2226945" cy="300355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50815" y="3895090"/>
            <a:ext cx="2214880" cy="33909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2027.01 — 05.31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407408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5EBD3"/>
          </a:solidFill>
          <a:ln w="952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4407408"/>
            <a:ext cx="822960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①—② 已完成，③ 编码联调主体完成、10 月底收尾，④⑤ 为后续计划；毕业答辩时间以学院安排为准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21792" y="40233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预期成果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498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1E276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预期成果：对照任务书逐项交付</a:t>
            </a:r>
            <a:endParaRPr lang="en-US" sz="25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41732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57200" y="141732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40080" y="152704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43000" y="154533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完整可运行系统</a:t>
            </a:r>
            <a:endParaRPr lang="en-US" sz="125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40080" y="194767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管理后台 + 移动端 H5 + 后端 + 数据库，界面美观、功能齐全、各功能正常使用</a:t>
            </a:r>
            <a:endParaRPr lang="en-US" sz="88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346704" y="141732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346704" y="141732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529584" y="152704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032504" y="154533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数据库脚本</a:t>
            </a:r>
            <a:endParaRPr lang="en-US" sz="125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529584" y="194767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建表脚本 / 演示数据 / 一键重置脚本，可复现初始化</a:t>
            </a:r>
            <a:endParaRPr lang="en-US" sz="88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236208" y="141732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236208" y="141732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6419088" y="152704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922008" y="154533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系统设计文档</a:t>
            </a:r>
            <a:endParaRPr lang="en-US" sz="125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419088" y="194767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可行性研究、需求规格、概要/详细设计、数据库与接口规范等全套工程文档</a:t>
            </a:r>
            <a:endParaRPr lang="en-US" sz="88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457200" y="283464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57200" y="283464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40080" y="294436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1143000" y="296265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测试报告</a:t>
            </a:r>
            <a:endParaRPr lang="en-US" sz="125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640080" y="336499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单元、接口、权限与界面验收的分层测试记录与结论</a:t>
            </a:r>
            <a:endParaRPr lang="en-US" sz="88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3346704" y="283464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3346704" y="283464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3529584" y="294436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4032504" y="296265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毕业论文</a:t>
            </a:r>
            <a:endParaRPr lang="en-US" sz="125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3529584" y="336499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符合学院本科毕业设计规范，结构合理、图表规范、层次清楚</a:t>
            </a:r>
            <a:endParaRPr lang="en-US" sz="880" dirty="0"/>
          </a:p>
        </p:txBody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6236208" y="283464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6236208" y="2834640"/>
            <a:ext cx="82296" cy="128016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6419088" y="2944368"/>
            <a:ext cx="5486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6922008" y="2962656"/>
            <a:ext cx="1874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答辩材料</a:t>
            </a:r>
            <a:endParaRPr lang="en-US" sz="125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6419088" y="3364992"/>
            <a:ext cx="2331720" cy="6858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软件使用说明书、答辩 PPT、演示动线与演示数据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E5E9F2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4864608"/>
            <a:ext cx="5943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艺体培训机构全流程教务管理平台的设计与实现 · 开题答辩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3D7E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2761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0"/>
            <a:ext cx="10973" cy="5143500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以上是我的开题汇报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恳请各位老师批评指正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566160" y="3063240"/>
            <a:ext cx="2011680" cy="18288"/>
          </a:xfrm>
          <a:prstGeom prst="rect">
            <a:avLst/>
          </a:prstGeom>
          <a:solidFill>
            <a:srgbClr val="C9A227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5EB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 · 敬请指导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2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3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4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5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6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7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8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9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10.xml><?xml version="1.0" encoding="utf-8"?>
<p:tagLst xmlns:p="http://schemas.openxmlformats.org/presentationml/2006/main">
  <p:tag name="KSO_WM_DIAGRAM_VIRTUALLY_FRAME" val="{&quot;height&quot;:132.48000000000002,&quot;left&quot;:36,&quot;top&quot;:236.16,&quot;width&quot;:648}"/>
</p:tagLst>
</file>

<file path=ppt/tags/tag11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2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3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4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5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6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7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8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19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20.xml><?xml version="1.0" encoding="utf-8"?>
<p:tagLst xmlns:p="http://schemas.openxmlformats.org/presentationml/2006/main">
  <p:tag name="KSO_WM_DIAGRAM_VIRTUALLY_FRAME" val="{&quot;height&quot;:216,&quot;left&quot;:36,&quot;top&quot;:123.84,&quot;width&quot;:374.95}"/>
</p:tagLst>
</file>

<file path=ppt/tags/tag21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2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3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4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5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6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7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8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29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0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1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2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3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4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5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6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7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8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39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0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1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2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3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4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5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6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7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8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49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ags/tag50.xml><?xml version="1.0" encoding="utf-8"?>
<p:tagLst xmlns:p="http://schemas.openxmlformats.org/presentationml/2006/main">
  <p:tag name="KSO_WM_DIAGRAM_VIRTUALLY_FRAME" val="{&quot;height&quot;:212.4,&quot;left&quot;:36,&quot;top&quot;:111.6,&quot;width&quot;:667.43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5384</Words>
  <Application>WPS 演示</Application>
  <PresentationFormat>On-screen Show (16:9)</PresentationFormat>
  <Paragraphs>749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宋体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WPS_1696586358</cp:lastModifiedBy>
  <cp:revision>10</cp:revision>
  <dcterms:created xsi:type="dcterms:W3CDTF">2026-09-30T09:56:00Z</dcterms:created>
  <dcterms:modified xsi:type="dcterms:W3CDTF">2026-10-02T08:59:52Z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3648C97FF62945D48343389FC22162FF_12</vt:lpwstr>
  </property>
  <property fmtid="{D5CDD505-2E9C-101B-9397-08002B2CF9AE}" pid="3" name="KSOProductBuildVer">
    <vt:lpwstr>2052-12.1.0.28488</vt:lpwstr>
  </property>
</Properties>
</file>