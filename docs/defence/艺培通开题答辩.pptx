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E3D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0"/>
            <a:ext cx="10973" cy="51435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攀枝花学院 · 本科毕业设计（论文）开题答辩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26080" y="960120"/>
            <a:ext cx="3291840" cy="16459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spc="2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艺术培训机构全流程教务管理平台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2121408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的设计与实现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spc="100" kern="0" dirty="0">
                <a:solidFill>
                  <a:srgbClr val="F5EBD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艺培通：面向中小型艺术培训机构的全链路教务管理平台 ——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286000" y="3520440"/>
            <a:ext cx="4572000" cy="1005840"/>
          </a:xfrm>
          <a:prstGeom prst="roundRect">
            <a:avLst>
              <a:gd name="adj" fmla="val 4545"/>
            </a:avLst>
          </a:prstGeom>
          <a:solidFill>
            <a:srgbClr val="3D5A8C">
              <a:alpha val="65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35661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答辩人：＿＿＿＿＿＿　指导教师：＿＿＿＿＿＿
</a:t>
            </a:r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专业：软件工程　｜　2026 年 ＿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b="1" spc="20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目录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22960" cy="411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618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2801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5910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行业特征与五类痛点 · 工程价值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26280" y="12618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2080" y="12801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国内外研究现状与趋势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212080" y="15910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国外智能排课 / 流失预测 · 国内点状成果 · 五大趋势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21762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1945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研究内容与目标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5054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五类角色业务闭环 · 四类关键技术 · 容器化上线目标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26280" y="21762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12080" y="21945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技术路线与总体方案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0" y="25054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五层架构 · 数据库 · 核心算法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85800" y="30906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1089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研究方法与可行性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4198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文档驱动 + 核心链路优先 · 分层测试 · 三性分析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30906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212080" y="31089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进度安排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4198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五个阶段：调研设计 → 编码联调 → 测试上线 → 论文答辩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85800" y="4005072"/>
            <a:ext cx="6858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334256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可运行系统 · 数据库脚本 · 设计文档 · 测试报告 · 毕业论文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818120" y="384048"/>
            <a:ext cx="914400" cy="914400"/>
          </a:xfrm>
          <a:prstGeom prst="oval">
            <a:avLst/>
          </a:prstGeom>
          <a:solidFill>
            <a:srgbClr val="EEF1FB"/>
          </a:solidFill>
          <a:ln w="12700">
            <a:solidFill>
              <a:srgbClr val="3D5A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384048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选题背景与意义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选题背景：教务管理为何是机构最容易出错的环节？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536192" cy="475488"/>
          </a:xfrm>
          <a:prstGeom prst="roundRect">
            <a:avLst>
              <a:gd name="adj" fmla="val 17308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课程类型多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03120" y="1417320"/>
            <a:ext cx="1536192" cy="475488"/>
          </a:xfrm>
          <a:prstGeom prst="roundRect">
            <a:avLst>
              <a:gd name="adj" fmla="val 17308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03120" y="141732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上课频次高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749040" y="1417320"/>
            <a:ext cx="1536192" cy="475488"/>
          </a:xfrm>
          <a:prstGeom prst="roundRect">
            <a:avLst>
              <a:gd name="adj" fmla="val 17308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41732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兼职老师多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394960" y="1417320"/>
            <a:ext cx="1536192" cy="475488"/>
          </a:xfrm>
          <a:prstGeom prst="roundRect">
            <a:avLst>
              <a:gd name="adj" fmla="val 17308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41732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学员未成年·请假频繁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040880" y="1417320"/>
            <a:ext cx="1536192" cy="475488"/>
          </a:xfrm>
          <a:prstGeom prst="roundRect">
            <a:avLst>
              <a:gd name="adj" fmla="val 17308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41732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收入靠课时包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331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传统管理模式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2286000"/>
            <a:ext cx="2834640" cy="475488"/>
          </a:xfrm>
          <a:prstGeom prst="roundRect">
            <a:avLst>
              <a:gd name="adj" fmla="val 15385"/>
            </a:avLst>
          </a:prstGeom>
          <a:solidFill>
            <a:srgbClr val="F5EBD3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0" y="2286000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电子表格 + 纸质登记本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228600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记录学员信息、课表、考勤与收费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999232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数据分散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057400" y="2999232"/>
            <a:ext cx="6629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学员、课表、考勤、收费散落多个表格与人员手中，流转靠人工传递，统计滞后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3346704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课时手工扣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57400" y="3346704"/>
            <a:ext cx="6629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教务按考勤逐笔手工扣减课时，多学员多课程组合下极易误扣漏扣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3694176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排课靠经验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057400" y="3694176"/>
            <a:ext cx="6629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教师、教室、班级的时间冲突难以一次暴露，只能在使用中被动发现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041648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薪资人工汇总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057400" y="4041648"/>
            <a:ext cx="6629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以课时为基础人工核算工资，既慢又易错，且缺乏可追溯明细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438912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流失隐蔽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57400" y="4389120"/>
            <a:ext cx="6629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学员流失等续费明显下滑才被察觉，往往已错失干预窗口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选题背景与意义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五类痛点：传统教务管理的核心问题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609344" cy="237744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1609344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37360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30352" y="224028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28346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统计滞后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30352" y="321868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多表多人各管一段，管理者难以及时掌握招生、到课、营收与流失状况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67128" y="1463040"/>
            <a:ext cx="1609344" cy="237744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67128" y="1463040"/>
            <a:ext cx="1609344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167128" y="1737360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240280" y="224028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课时误扣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40280" y="28346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漏扣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240280" y="321868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多学员、多课程的复杂组合下，手工扣减极易出错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77056" y="1463040"/>
            <a:ext cx="1609344" cy="237744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77056" y="1463040"/>
            <a:ext cx="1609344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3877056" y="1737360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950208" y="224028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冲突后知后觉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50208" y="28346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排课靠经验试错，教室与时段冲突到上课才发现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950208" y="321868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86984" y="1463040"/>
            <a:ext cx="1609344" cy="237744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86984" y="1463040"/>
            <a:ext cx="1609344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5586984" y="1737360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0136" y="224028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薪资慢且易错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60136" y="28346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缺明细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0136" y="321868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以课时为基础人工汇总，无逐项可追溯的工资构成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96912" y="1463040"/>
            <a:ext cx="1609344" cy="2377440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96912" y="1463040"/>
            <a:ext cx="1609344" cy="1097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7296912" y="1737360"/>
            <a:ext cx="16093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0064" y="2240280"/>
            <a:ext cx="146304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流失隐蔽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70064" y="28346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干预滞后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3218688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续费下滑才察觉，往往已错过干预窗口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40416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04164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随机构规模扩大，手工模式的人力成本与差错成本呈非线性上升——成为制约规模化、规范化运营的瓶颈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选题背景与意义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研究意义：以工程化手段解决实际管理难题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3332" y="1645920"/>
            <a:ext cx="585216" cy="585216"/>
          </a:xfrm>
          <a:prstGeom prst="oval">
            <a:avLst/>
          </a:prstGeom>
          <a:solidFill>
            <a:srgbClr val="1E2761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13332" y="16459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统一数据模型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94360" y="2880360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将招生、排课、考勤、课时、财务、学情统一到同一系统与同一数据模型，流程标准化、口径一致化，消除信息孤岛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46704" y="141732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2836" y="1645920"/>
            <a:ext cx="585216" cy="585216"/>
          </a:xfrm>
          <a:prstGeom prst="oval">
            <a:avLst/>
          </a:prstGeom>
          <a:solidFill>
            <a:srgbClr val="1E2761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2836" y="16459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38144" y="23774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自动化降错提效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83864" y="2880360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课时自动扣减、冲突检测与薪资自动核算，显著降低人工差错、提升运营效率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36208" y="141732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92340" y="1645920"/>
            <a:ext cx="585216" cy="585216"/>
          </a:xfrm>
          <a:prstGeom prst="oval">
            <a:avLst/>
          </a:prstGeom>
          <a:solidFill>
            <a:srgbClr val="1E2761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92340" y="1645920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Ⅲ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3774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数据驱动决策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373368" y="2880360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沉淀的业务数据支撑运营看板与流失预警，使机构由事后统计转向事前干预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5EBD3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04164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服务对象：中小型艺术培训机构 ｜ 现实意义：教务管理信息化是素质教育数字化的基础工程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国内外研究现状与趋势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国内外研究现状：点状成果丰富、整体系统缺失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931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3931920" cy="411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国外研究（起步早、聚焦两大方向）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智能排课：精确优化建模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课程表编排建模为混合整数规划（MIP），分块求解获高质量可行解（Rappos 等）；将教师时间偏好纳入目标函数（Chen 等）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786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学员流失预测：机器学习视角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28529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综合学术、社会经济与公平因素结合生存分析（Gutierrez-Pachas 等）；联邦学习保护隐私（Zhang 等）；移动端参与行为指标预测留存（Matz 等）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3284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对本课题的启示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360273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到课行为、参与程度与流失风险存在稳定关联 → 支持以到课沉寂度、缺勤倾向等因子刻画流失风险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298448"/>
            <a:ext cx="393192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298448"/>
            <a:ext cx="3931920" cy="411480"/>
          </a:xfrm>
          <a:prstGeom prst="rect">
            <a:avLst/>
          </a:prstGeom>
          <a:solidFill>
            <a:srgbClr val="2E3D7E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国内研究（近年快速增多、覆盖多个环节）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1828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排课与课时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智能排课与课时自动扣减（任杰）；教室资源预约冲突检测算法与调度方案（黄莉）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37760" y="25786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可视化与学情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37760" y="285292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Vue+ECharts 的经营数据可视化（温雅）；学情多维度大数据分析模型（石峰）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332841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财务与移动端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937760" y="360273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课时薪资自动核算（贺敏）；家长端小程序课表查询与消息推送（周佳）；报名转班退费闭环（刘畅）；考级归档与成长档案建模（陈瑶）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44348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4348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共性特征：多聚焦单一算法点或单一业务环节 —— 点状成果难以拼装为可用、可靠、可维护的整体系统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国内外研究现状与趋势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发展趋势与本研究缺口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536192" cy="502920"/>
          </a:xfrm>
          <a:prstGeom prst="roundRect">
            <a:avLst>
              <a:gd name="adj" fmla="val 16364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全流程一体化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02336" y="1499616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1371600"/>
            <a:ext cx="1536192" cy="502920"/>
          </a:xfrm>
          <a:prstGeom prst="roundRect">
            <a:avLst>
              <a:gd name="adj" fmla="val 16364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371600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事前预警干预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48256" y="1499616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536192" cy="502920"/>
          </a:xfrm>
          <a:prstGeom prst="roundRect">
            <a:avLst>
              <a:gd name="adj" fmla="val 16364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1371600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移动优先多端协同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94176" y="1499616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394960" y="1371600"/>
            <a:ext cx="1536192" cy="502920"/>
          </a:xfrm>
          <a:prstGeom prst="roundRect">
            <a:avLst>
              <a:gd name="adj" fmla="val 16364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1371600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工程质量成底线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40096" y="1499616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40880" y="1371600"/>
            <a:ext cx="1536192" cy="502920"/>
          </a:xfrm>
          <a:prstGeom prst="roundRect">
            <a:avLst>
              <a:gd name="adj" fmla="val 16364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0" y="1371600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容器化持续交付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986016" y="1499616"/>
            <a:ext cx="2194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199339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五大趋势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514600"/>
            <a:ext cx="269748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26426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360" y="2971800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缺少全链条工程化落地系统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4360" y="35935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面向中小型艺术培训机构，覆盖招生、排课、考勤、课时、财务、学情全业务链条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46704" y="2514600"/>
            <a:ext cx="269748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83864" y="26426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483864" y="2971800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缺少统一数据模型闭环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83864" y="35935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以统一数据模型串联各环节并形成业务闭环的设计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36208" y="2514600"/>
            <a:ext cx="269748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73368" y="264261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B03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缺口 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73368" y="2971800"/>
            <a:ext cx="24231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缺少工程质量保障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373368" y="3593592"/>
            <a:ext cx="242316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并发一致性、权限隔离与可维护性等工程质量属性上的系统性保障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297680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297680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本研究定位：以工程化方式填补缺口 —— 完整系统 + 统一数据模型 + 工程质量保障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研究内容与目标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研究内容①：五类角色业务闭环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536192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153619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00200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学员家长端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85216" y="2167128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39696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在线报名缴费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85216" y="2679192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5176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课表 / 学情查看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85216" y="3191256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163824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剩余课时与流水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5216" y="3703320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675888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消息通知提醒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103120" y="1600200"/>
            <a:ext cx="1536192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03120" y="1600200"/>
            <a:ext cx="153619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1600200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授课教师端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231136" y="2167128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2139696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授课课表提醒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31136" y="2679192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2377440" y="265176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四态课堂考勤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31136" y="3191256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4" name="Text 22"/>
          <p:cNvSpPr/>
          <p:nvPr/>
        </p:nvSpPr>
        <p:spPr>
          <a:xfrm>
            <a:off x="2377440" y="3163824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作业上传点评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31136" y="3703320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/>
          <p:nvPr/>
        </p:nvSpPr>
        <p:spPr>
          <a:xfrm>
            <a:off x="2377440" y="3675888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课时统计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749040" y="1600200"/>
            <a:ext cx="1536192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1600200"/>
            <a:ext cx="153619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3749040" y="1600200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教务管理端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877056" y="2167128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1" name="Text 29"/>
          <p:cNvSpPr/>
          <p:nvPr/>
        </p:nvSpPr>
        <p:spPr>
          <a:xfrm>
            <a:off x="4023360" y="2139696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课程班级管理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877056" y="2679192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3" name="Text 31"/>
          <p:cNvSpPr/>
          <p:nvPr/>
        </p:nvSpPr>
        <p:spPr>
          <a:xfrm>
            <a:off x="4023360" y="265176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智能排课调课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877056" y="3191256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5" name="Text 33"/>
          <p:cNvSpPr/>
          <p:nvPr/>
        </p:nvSpPr>
        <p:spPr>
          <a:xfrm>
            <a:off x="4023360" y="3163824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报名审核分班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77056" y="3703320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7" name="Text 35"/>
          <p:cNvSpPr/>
          <p:nvPr/>
        </p:nvSpPr>
        <p:spPr>
          <a:xfrm>
            <a:off x="4023360" y="3675888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考级管理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1600200"/>
            <a:ext cx="1536192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0" y="1600200"/>
            <a:ext cx="1536192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1600200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财务管理端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522976" y="2167128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0" y="2139696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收费续费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522976" y="2679192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4" name="Text 42"/>
          <p:cNvSpPr/>
          <p:nvPr/>
        </p:nvSpPr>
        <p:spPr>
          <a:xfrm>
            <a:off x="5669280" y="265176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退费审核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522976" y="3191256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6" name="Text 44"/>
          <p:cNvSpPr/>
          <p:nvPr/>
        </p:nvSpPr>
        <p:spPr>
          <a:xfrm>
            <a:off x="5669280" y="3163824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薪资自动结算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522976" y="3703320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8" name="Text 46"/>
          <p:cNvSpPr/>
          <p:nvPr/>
        </p:nvSpPr>
        <p:spPr>
          <a:xfrm>
            <a:off x="5669280" y="3675888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营收统计报表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040880" y="1600200"/>
            <a:ext cx="1536192" cy="26060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0880" y="1600200"/>
            <a:ext cx="1536192" cy="457200"/>
          </a:xfrm>
          <a:prstGeom prst="rect">
            <a:avLst/>
          </a:prstGeom>
          <a:solidFill>
            <a:srgbClr val="2E3D7E"/>
          </a:solidFill>
          <a:ln/>
        </p:spPr>
      </p:sp>
      <p:sp>
        <p:nvSpPr>
          <p:cNvPr id="51" name="Text 49"/>
          <p:cNvSpPr/>
          <p:nvPr/>
        </p:nvSpPr>
        <p:spPr>
          <a:xfrm>
            <a:off x="7040880" y="1600200"/>
            <a:ext cx="153619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超级管理员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7168896" y="2167128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3" name="Text 51"/>
          <p:cNvSpPr/>
          <p:nvPr/>
        </p:nvSpPr>
        <p:spPr>
          <a:xfrm>
            <a:off x="7315200" y="2139696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人员权限管理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168896" y="2679192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5" name="Text 53"/>
          <p:cNvSpPr/>
          <p:nvPr/>
        </p:nvSpPr>
        <p:spPr>
          <a:xfrm>
            <a:off x="7315200" y="265176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机构配置公告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7168896" y="3191256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7" name="Text 55"/>
          <p:cNvSpPr/>
          <p:nvPr/>
        </p:nvSpPr>
        <p:spPr>
          <a:xfrm>
            <a:off x="7315200" y="3163824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全局运营看板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7168896" y="3703320"/>
            <a:ext cx="82296" cy="8229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9" name="Text 57"/>
          <p:cNvSpPr/>
          <p:nvPr/>
        </p:nvSpPr>
        <p:spPr>
          <a:xfrm>
            <a:off x="7315200" y="3675888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97280" y="1170432"/>
            <a:ext cx="6949440" cy="329184"/>
          </a:xfrm>
          <a:prstGeom prst="roundRect">
            <a:avLst>
              <a:gd name="adj" fmla="val 27778"/>
            </a:avLst>
          </a:prstGeom>
          <a:solidFill>
            <a:srgbClr val="F5EBD3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97280" y="1170432"/>
            <a:ext cx="69494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统一数据模型（学员 / 课程 / 课次 / 考勤 / 课时 / 财务 / 薪资 / 通知）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五类角色经统一数据模型相互衔接，共同构成覆盖「招生 → 学情」的业务闭环；流程标准化、数据口径一致化，运营数据沉淀为决策依据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研究内容与目标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研究内容②：四类关键技术问题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572768"/>
            <a:ext cx="457200" cy="457200"/>
          </a:xfrm>
          <a:prstGeom prst="oval">
            <a:avLst/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572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51790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报名决策一致性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88720" y="1901952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多方并发报名时课程名额、时间冲突与状态可能被重复读取，以报名决策快照 + 版本校验保证决策所依据的数据一致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572768"/>
            <a:ext cx="457200" cy="457200"/>
          </a:xfrm>
          <a:prstGeom prst="oval">
            <a:avLst/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572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ⅱ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94960" y="151790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排课易用与并发冲突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394960" y="1901952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五维时间交叉冲突检测 + 拖拽快速调课提升易用性，以复合乐观并发条件防止同一状态下并发编辑相互覆盖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127248"/>
            <a:ext cx="457200" cy="457200"/>
          </a:xfrm>
          <a:prstGeom prst="oval">
            <a:avLst/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88720" y="307238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薪资正确与不可篡改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88720" y="3456432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状态机与并发控制相结合的核算体系，已确认薪资不被覆盖，后续变更以调整记录留痕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28032" y="3127248"/>
            <a:ext cx="457200" cy="457200"/>
          </a:xfrm>
          <a:prstGeom prst="oval">
            <a:avLst/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127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ⅳ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4960" y="307238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运营决策能力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394960" y="3456432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以可解释的多因子规则构建学员流失预警，把运营统计由事后展示升级为事前流失干预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434840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434840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研究目标：完成开发与分层测试后，以容器化方式部署上线并稳定运行 —— 实现需求分析 → 设计实现 → 测试验收 → 生产上线的完整交付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技术路线与总体方案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技术路线：技术选型（B/S 前后端分离）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1234440" cy="4937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25880"/>
            <a:ext cx="12344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管理后台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691640" y="1325880"/>
            <a:ext cx="3063240" cy="4937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691640" y="1325880"/>
            <a:ext cx="306324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 + Pinia + Element Plus + ECharts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3931920" cy="4937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325880"/>
            <a:ext cx="393192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承载大课表、薪资核算、运营看板等数据密集页面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856232"/>
            <a:ext cx="1234440" cy="4937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56232"/>
            <a:ext cx="12344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91640" y="1856232"/>
            <a:ext cx="3063240" cy="493776"/>
          </a:xfrm>
          <a:prstGeom prst="rect">
            <a:avLst/>
          </a:prstGeom>
          <a:solidFill>
            <a:srgbClr val="EE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1691640" y="1856232"/>
            <a:ext cx="306324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uni-app（Vue 3）+ uView Plus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1856232"/>
            <a:ext cx="3931920" cy="493776"/>
          </a:xfrm>
          <a:prstGeom prst="rect">
            <a:avLst/>
          </a:prstGeom>
          <a:solidFill>
            <a:srgbClr val="EE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856232"/>
            <a:ext cx="393192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一套代码编译 H5 与微信小程序，契合高频轻量场景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86584"/>
            <a:ext cx="1234440" cy="4937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86584"/>
            <a:ext cx="12344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691640" y="2386584"/>
            <a:ext cx="3063240" cy="4937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2386584"/>
            <a:ext cx="306324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3.2.5 + MyBatis-Plus 3.5.7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386584"/>
            <a:ext cx="3931920" cy="4937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386584"/>
            <a:ext cx="393192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RESTful 接口；内置事务与安全，复杂统计 SQL 易表达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916936"/>
            <a:ext cx="1234440" cy="4937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916936"/>
            <a:ext cx="12344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91640" y="2916936"/>
            <a:ext cx="3063240" cy="493776"/>
          </a:xfrm>
          <a:prstGeom prst="rect">
            <a:avLst/>
          </a:prstGeom>
          <a:solidFill>
            <a:srgbClr val="EEF1FB"/>
          </a:solidFill>
          <a:ln/>
        </p:spPr>
      </p:sp>
      <p:sp>
        <p:nvSpPr>
          <p:cNvPr id="26" name="Text 24"/>
          <p:cNvSpPr/>
          <p:nvPr/>
        </p:nvSpPr>
        <p:spPr>
          <a:xfrm>
            <a:off x="1691640" y="2916936"/>
            <a:ext cx="306324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8.0 + Flyway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2916936"/>
            <a:ext cx="3931920" cy="493776"/>
          </a:xfrm>
          <a:prstGeom prst="rect">
            <a:avLst/>
          </a:prstGeom>
          <a:solidFill>
            <a:srgbClr val="EEF1FB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916936"/>
            <a:ext cx="393192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支撑课时、财务、薪资强一致场景；结构变更版本化迁移，防环境漂移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447288"/>
            <a:ext cx="1234440" cy="4937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47288"/>
            <a:ext cx="12344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 / 缓存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691640" y="3447288"/>
            <a:ext cx="3063240" cy="4937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691640" y="3447288"/>
            <a:ext cx="306324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JWT（无状态）+ 应用内存缓存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54880" y="3447288"/>
            <a:ext cx="3931920" cy="4937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3447288"/>
            <a:ext cx="393192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配合基于角色的接口鉴权实现五类角色权限隔离；Redis 依赖与配置已预留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234440" cy="49377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977640"/>
            <a:ext cx="123444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691640" y="3977640"/>
            <a:ext cx="3063240" cy="493776"/>
          </a:xfrm>
          <a:prstGeom prst="rect">
            <a:avLst/>
          </a:prstGeom>
          <a:solidFill>
            <a:srgbClr val="EEF1FB"/>
          </a:solidFill>
          <a:ln/>
        </p:spPr>
      </p:sp>
      <p:sp>
        <p:nvSpPr>
          <p:cNvPr id="38" name="Text 36"/>
          <p:cNvSpPr/>
          <p:nvPr/>
        </p:nvSpPr>
        <p:spPr>
          <a:xfrm>
            <a:off x="1691640" y="3977640"/>
            <a:ext cx="306324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容器化编排 + 反向代理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754880" y="3977640"/>
            <a:ext cx="3931920" cy="493776"/>
          </a:xfrm>
          <a:prstGeom prst="rect">
            <a:avLst/>
          </a:prstGeom>
          <a:solidFill>
            <a:srgbClr val="EEF1FB"/>
          </a:solidFill>
          <a:ln/>
        </p:spPr>
      </p:sp>
      <p:sp>
        <p:nvSpPr>
          <p:cNvPr id="40" name="Text 38"/>
          <p:cNvSpPr/>
          <p:nvPr/>
        </p:nvSpPr>
        <p:spPr>
          <a:xfrm>
            <a:off x="4754880" y="3977640"/>
            <a:ext cx="3931920" cy="493776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前后端分离容器部署，数据卷持久化，支撑可回滚持续交付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55371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选型依据：团队熟悉度、生态成熟度与部署成本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技术路线与总体方案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总体架构：自顶向下五层分层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060704"/>
            <a:ext cx="1874520" cy="384048"/>
          </a:xfrm>
          <a:prstGeom prst="roundRect">
            <a:avLst>
              <a:gd name="adj" fmla="val 11905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60704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3160" y="1060704"/>
            <a:ext cx="626364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23160" y="1060704"/>
            <a:ext cx="6263640" cy="38404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管理后台（Web）｜ 移动端（H5 / 微信小程序）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90472"/>
            <a:ext cx="1874520" cy="384048"/>
          </a:xfrm>
          <a:prstGeom prst="roundRect">
            <a:avLst>
              <a:gd name="adj" fmla="val 11905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49047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接口与鉴权层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1490472"/>
            <a:ext cx="626364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1490472"/>
            <a:ext cx="6263640" cy="38404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请求接入 · JWT 身份认证 · 基于角色的权限校验（RBAC）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20240"/>
            <a:ext cx="1874520" cy="384048"/>
          </a:xfrm>
          <a:prstGeom prst="roundRect">
            <a:avLst>
              <a:gd name="adj" fmla="val 11905"/>
            </a:avLst>
          </a:prstGeom>
          <a:solidFill>
            <a:srgbClr val="2E3D7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92024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业务服务层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23160" y="1920240"/>
            <a:ext cx="626364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3160" y="1920240"/>
            <a:ext cx="6263640" cy="38404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按业务域组织：报名 / 排课 / 考勤 / 课时 / 财务 / 薪资 / 统计 等核心规则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50008"/>
            <a:ext cx="1874520" cy="384048"/>
          </a:xfrm>
          <a:prstGeom prst="roundRect">
            <a:avLst>
              <a:gd name="adj" fmla="val 11905"/>
            </a:avLst>
          </a:prstGeom>
          <a:solidFill>
            <a:srgbClr val="2E3D7E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50008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数据访问层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423160" y="2350008"/>
            <a:ext cx="626364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23160" y="2350008"/>
            <a:ext cx="6263640" cy="38404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数据库读写封装与聚合查询（MyBatis-Plus）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779776"/>
            <a:ext cx="1874520" cy="384048"/>
          </a:xfrm>
          <a:prstGeom prst="roundRect">
            <a:avLst>
              <a:gd name="adj" fmla="val 11905"/>
            </a:avLst>
          </a:prstGeom>
          <a:solidFill>
            <a:srgbClr val="3D5A8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779776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基础设施层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423160" y="2779776"/>
            <a:ext cx="626364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23160" y="2779776"/>
            <a:ext cx="6263640" cy="38404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>
            <a:normAutofit/>
          </a:bodyPr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8.0 · 缓存 · 文件存储 · Flyway 迁移 · 可观测性支撑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31927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各层只依赖其下层，职责单一、边界清晰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639312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685032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部署形态：请求经反向代理（HTTPS + JWT 鉴权）进入 Web 容器托管前端静态资源 → 业务接口转后端应用容器 → 后端访问数据库容器，数据卷持久化
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两类终端（管理后台 / 移动端）共用同一套后端业务规则，避免规则在两端重复实现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技术路线与总体方案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数据库设计思路：37 张表 · 八个业务域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表结构组织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6596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围绕学员、课程、班级、课次、考勤、课时账户与流水、收费、退费、薪资与通知等核心业务实体建表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86537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八域划分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65960" y="186537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围绕核心业务实体按八个业务域组织表结构（见右侧），职责边界清晰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43230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关键约束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65960" y="243230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课时余额只由流水驱动变化，考勤扣减与流水一一对应，保证课时变动可追溯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唯一约束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65960" y="299923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同一报名仅一条待审核退费；同一教师同一月份仅一张有效结算单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索引策略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65960" y="35661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高频查询字段建立组合索引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92040" y="1298448"/>
            <a:ext cx="3794760" cy="3246120"/>
          </a:xfrm>
          <a:prstGeom prst="roundRect">
            <a:avLst>
              <a:gd name="adj" fmla="val 1408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298448"/>
            <a:ext cx="3794760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1298448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八个业务域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74920" y="1874520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1874520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用户权限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30568" y="1874520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30568" y="1874520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学员课程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532888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2532888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排课调课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30568" y="2532888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30568" y="2532888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考勤学情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4920" y="3191256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74920" y="3191256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课时流水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30568" y="3191256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0568" y="3191256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财务薪资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74920" y="3849624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4920" y="3849624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考级通知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830568" y="3849624"/>
            <a:ext cx="1609344" cy="512064"/>
          </a:xfrm>
          <a:prstGeom prst="roundRect">
            <a:avLst>
              <a:gd name="adj" fmla="val 125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30568" y="3849624"/>
            <a:ext cx="1609344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运营管理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技术路线与总体方案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核心算法与规则方案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011680" cy="2468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71600"/>
            <a:ext cx="2011680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72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591056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五维冲突检测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" y="2057400"/>
            <a:ext cx="1755648" cy="1691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 / 教室 / 教室预约 / 班级 / 跨班学员五个时间交叉维度；冲突课次即时提示并不予保存；智能排课另按教室容量筛选可用教室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615184" y="1371600"/>
            <a:ext cx="2011680" cy="2468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15184" y="1371600"/>
            <a:ext cx="2011680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2724912" y="1572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63824" y="1591056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课时自动扣减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2057400"/>
            <a:ext cx="1755648" cy="1691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以考勤状态为输入：到课与迟到扣减、请假经审批后不扣减；考勤记录、余额更新与流水写入处于同一事务，版本号乐观锁防并发覆盖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773168" y="1371600"/>
            <a:ext cx="2011680" cy="2468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73168" y="1371600"/>
            <a:ext cx="2011680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4882896" y="1572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21808" y="1591056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薪资核算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01184" y="2057400"/>
            <a:ext cx="1755648" cy="1691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按课次 → 班级 → 课程 → 薪资规则的映射统计当月有效课时并自动计算应发金额；状态机管理，已确认单不允许直接覆盖，变更以调整记录叠加差额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931152" y="1371600"/>
            <a:ext cx="2011680" cy="2468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31152" y="1371600"/>
            <a:ext cx="2011680" cy="914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1572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79792" y="1591056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学员流失预警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2057400"/>
            <a:ext cx="1755648" cy="1691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以到课沉寂度、缺勤倾向、课时余量与到期紧迫等因子评分分档，输出待跟进学员清单，支撑事前干预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4041648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04164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核心算法设计原则：可解释、可实现、可测试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研究方法与可行性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研究方法与验证方案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研究方法：文档驱动 · 核心链路优先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810512"/>
            <a:ext cx="8686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508760" y="1700784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需求与设计文档先行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08760" y="199339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先完成需求规格、概要/详细设计与算法文档，确定系统边界与口径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39319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560320"/>
            <a:ext cx="86868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508760" y="2450592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核心链路逐步实现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08760" y="274320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按报名退费 → 排课调课 → 考勤课时 → 薪资核算 → 运营预警顺序实现并逐模块联调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754880" y="129844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验证方案：分层测试 + 上线验证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1691640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6916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9320" y="1691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后端核心纯逻辑（JUnit + Mockito）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754880" y="2148840"/>
            <a:ext cx="502920" cy="365760"/>
          </a:xfrm>
          <a:prstGeom prst="roundRect">
            <a:avLst>
              <a:gd name="adj" fmla="val 10000"/>
            </a:avLst>
          </a:prstGeom>
          <a:solidFill>
            <a:srgbClr val="2E3D7E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214884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组件测试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89320" y="21488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前端关键组件（Vitest）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754880" y="2606040"/>
            <a:ext cx="621792" cy="365760"/>
          </a:xfrm>
          <a:prstGeom prst="roundRect">
            <a:avLst>
              <a:gd name="adj" fmla="val 10000"/>
            </a:avLst>
          </a:prstGeom>
          <a:solidFill>
            <a:srgbClr val="2E3D7E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2606040"/>
            <a:ext cx="621792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接口验收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89320" y="26060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前后端接口契约与业务链路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754880" y="3063240"/>
            <a:ext cx="749808" cy="365760"/>
          </a:xfrm>
          <a:prstGeom prst="roundRect">
            <a:avLst>
              <a:gd name="adj" fmla="val 10000"/>
            </a:avLst>
          </a:prstGeom>
          <a:solidFill>
            <a:srgbClr val="3D5A8C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0" y="3063240"/>
            <a:ext cx="74980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 UI 验收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89320" y="30632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真实部署环境自动化界面验收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54880" y="3520440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3D5A8C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35204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五角色权限验收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89320" y="35204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 / 越权矩阵逐项验证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754880" y="3977640"/>
            <a:ext cx="1115568" cy="36576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977640"/>
            <a:ext cx="1115568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容器化上线验证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89320" y="397764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部署至生产环境稳定运行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研究方法与可行性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可行性分析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85900" y="1737360"/>
            <a:ext cx="640080" cy="640080"/>
          </a:xfrm>
          <a:prstGeom prst="oval">
            <a:avLst/>
          </a:prstGeom>
          <a:solidFill>
            <a:srgbClr val="1E2761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590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971800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所选框架与组件均为成熟开源方案；团队具备相应开发经验；四类关键技术问题均可通过已被工程实践验证的机制实现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2194560" y="1682496"/>
            <a:ext cx="8046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346704" y="1463040"/>
            <a:ext cx="269748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5404" y="1737360"/>
            <a:ext cx="640080" cy="640080"/>
          </a:xfrm>
          <a:prstGeom prst="oval">
            <a:avLst/>
          </a:prstGeom>
          <a:solidFill>
            <a:srgbClr val="1E2761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75404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46704" y="25146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经济可行性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83864" y="2971800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系统采用开源技术栈与容器化部署，不依赖商业授权，成本可控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84064" y="1682496"/>
            <a:ext cx="8046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36208" y="1463040"/>
            <a:ext cx="269748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64908" y="1737360"/>
            <a:ext cx="640080" cy="640080"/>
          </a:xfrm>
          <a:prstGeom prst="oval">
            <a:avLst/>
          </a:prstGeom>
          <a:solidFill>
            <a:srgbClr val="1E2761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4908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236208" y="25146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73368" y="2971800"/>
            <a:ext cx="24231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管理后台面向复杂管理场景、移动端面向高频轻量场景，终端形态与岗位习惯匹配，便于机构人员上手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7973568" y="1682496"/>
            <a:ext cx="8046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EF1FB"/>
          </a:solidFill>
          <a:ln w="9525">
            <a:solidFill>
              <a:srgbClr val="3D5A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结论：技术、经济、操作三方面均可行，可进入设计与开发阶段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进度安排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进度安排（自 2026.07.02 定题 · 五个阶段）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2926080" y="1261872"/>
            <a:ext cx="576072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月　8 月　9 月　10 月　11 月　12 月　2027.01　02 月　03 月　04 月　05 月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选题定题与可行性研究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明确系统边界与五类角色职责，完成可行性研究、需求调研与开题报告，确定技术路线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2926080" y="1700784"/>
            <a:ext cx="521208" cy="256032"/>
          </a:xfrm>
          <a:prstGeom prst="rect">
            <a:avLst/>
          </a:prstGeom>
          <a:solidFill>
            <a:srgbClr val="3D5A8C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170078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07.02 — 07.31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57200" y="212140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需求分析与系统设计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完成需求规格、概要/详细设计，确定数据库表结构、接口契约与核心算法方案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926080" y="2249424"/>
            <a:ext cx="521208" cy="256032"/>
          </a:xfrm>
          <a:prstGeom prst="rect">
            <a:avLst/>
          </a:prstGeom>
          <a:solidFill>
            <a:srgbClr val="3D5A8C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249424"/>
            <a:ext cx="52120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08.01 — 08.31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57200" y="267004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编码实现与模块联调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29260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登录鉴权、报名收费、排课调课、考勤扣课时、退费薪资与统计看板，移动端补齐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2926080" y="2798064"/>
            <a:ext cx="1042416" cy="256032"/>
          </a:xfrm>
          <a:prstGeom prst="rect">
            <a:avLst/>
          </a:prstGeom>
          <a:solidFill>
            <a:srgbClr val="3D5A8C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279806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09.01 — 10.31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321868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系统测试与部署上线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34747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单元/接口/权限/UI 验收、缺陷修复，容器化部署上线验证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926080" y="3346704"/>
            <a:ext cx="1042416" cy="2560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0" y="3346704"/>
            <a:ext cx="104241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11.01 — 12.31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57200" y="376732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论文撰写与毕业答辩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40233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论文与查重校对、使用说明书、答辩材料与演示数据，完成毕业答辩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926080" y="3895344"/>
            <a:ext cx="2615184" cy="2560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2926080" y="3895344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2027.01 — 05.31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7200" y="4407408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5EBD3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40740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①—② 已完成，③ 编码联调主体完成、10 月底收尾，④⑤ 为后续计划；毕业答辩时间以学院安排为准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64008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21792" y="402336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预期成果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spc="150" kern="0" dirty="0">
                <a:solidFill>
                  <a:srgbClr val="1E2761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预期成果：对照任务书逐项交付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17320"/>
            <a:ext cx="82296" cy="12801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2704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43000" y="154533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完整可运行系统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1947672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管理后台 + 移动端（H5/小程序）+ 后端 + 数据库，界面美观、功能齐全、各功能正常使用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346704" y="1417320"/>
            <a:ext cx="26974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1417320"/>
            <a:ext cx="82296" cy="12801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3529584" y="152704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32504" y="154533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数据库脚本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29584" y="1947672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建表脚本 / 演示数据 / 一键重置脚本，可复现初始化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6236208" y="1417320"/>
            <a:ext cx="26974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36208" y="1417320"/>
            <a:ext cx="82296" cy="12801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6419088" y="152704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22008" y="154533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系统设计文档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19088" y="1947672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可行性研究、需求规格、概要/详细设计、数据库与接口规范等全套工程文档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26974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834640"/>
            <a:ext cx="82296" cy="12801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9443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296265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测试报告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3364992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单元、接口、权限与界面验收的分层测试记录与结论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3346704" y="2834640"/>
            <a:ext cx="26974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46704" y="2834640"/>
            <a:ext cx="82296" cy="12801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7" name="Text 25"/>
          <p:cNvSpPr/>
          <p:nvPr/>
        </p:nvSpPr>
        <p:spPr>
          <a:xfrm>
            <a:off x="3529584" y="29443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032504" y="296265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毕业论文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29584" y="3364992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符合学院本科毕业设计规范，结构合理、图表规范、层次清楚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236208" y="2834640"/>
            <a:ext cx="26974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5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36208" y="2834640"/>
            <a:ext cx="82296" cy="128016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2" name="Text 30"/>
          <p:cNvSpPr/>
          <p:nvPr/>
        </p:nvSpPr>
        <p:spPr>
          <a:xfrm>
            <a:off x="6419088" y="2944368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22008" y="2962656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答辩材料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419088" y="3364992"/>
            <a:ext cx="233172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软件使用说明书、答辩 PPT、演示动线与演示数据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457200" y="4828032"/>
            <a:ext cx="8229600" cy="9144"/>
          </a:xfrm>
          <a:prstGeom prst="rect">
            <a:avLst/>
          </a:prstGeom>
          <a:solidFill>
            <a:srgbClr val="E5E9F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864608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艺术培训机构全流程教务管理平台的设计与实现 · 开题答辩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8503920" y="486460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E3D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0"/>
            <a:ext cx="10973" cy="51435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以上是我的开题汇报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恳请各位老师批评指正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566160" y="3063240"/>
            <a:ext cx="2011680" cy="1828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5EBD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 · 敬请指导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2026-09-27T04:16:47Z</dcterms:created>
  <dcterms:modified xsi:type="dcterms:W3CDTF">2026-09-27T04:16:47Z</dcterms:modified>
</cp:coreProperties>
</file>