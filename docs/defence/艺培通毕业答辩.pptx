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3D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10973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77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攀枝花学院 · 本科毕业设计（论文）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艺术培训机构全流程教务管理平台的</a:t>
            </a:r>
            <a:endParaRPr lang="en-US" sz="3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设计与实现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0" y="2971800"/>
            <a:ext cx="18288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答辩人：罗斌洋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专业：软件工程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0" y="4480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毕业答辩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01｜问题起点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一个真实的月底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月底，机构负责人在做什么？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翻点名表核对出勤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手工算每位学员剩余课时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按课时给兼职教师算工资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家长来问账单要翻聊天记录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EEF1FB"/>
          </a:solidFill>
          <a:ln w="12700">
            <a:solidFill>
              <a:srgbClr val="3D5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6304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这些动作的共同点：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依赖人工、口径分散、出错后难以追溯。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本项目要解决的，是把这条链路整体搬进系统，并让它账目对得上、并发扛得住。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01｜问题起点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行业背景与五大痛点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99032"/>
            <a:ext cx="2103120" cy="365760"/>
          </a:xfrm>
          <a:prstGeom prst="roundRect">
            <a:avLst>
              <a:gd name="adj" fmla="val 2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990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26080" y="135331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统计滞后，难掌握招生/到课/营收/流失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93976"/>
            <a:ext cx="2103120" cy="365760"/>
          </a:xfrm>
          <a:prstGeom prst="roundRect">
            <a:avLst>
              <a:gd name="adj" fmla="val 2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939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课时手工扣减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26080" y="204825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多学员多课程组合下极易误扣漏扣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88920"/>
            <a:ext cx="2103120" cy="365760"/>
          </a:xfrm>
          <a:prstGeom prst="roundRect">
            <a:avLst>
              <a:gd name="adj" fmla="val 2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88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排课靠经验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0" y="27432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教师/教室/班级冲突要等使用中才发现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483864"/>
            <a:ext cx="2103120" cy="365760"/>
          </a:xfrm>
          <a:prstGeom prst="roundRect">
            <a:avLst>
              <a:gd name="adj" fmla="val 2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838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薪资人工汇总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26080" y="343814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慢、易错、缺明细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059936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178808"/>
            <a:ext cx="2103120" cy="365760"/>
          </a:xfrm>
          <a:prstGeom prst="roundRect">
            <a:avLst>
              <a:gd name="adj" fmla="val 2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788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流失隐蔽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26080" y="413308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等续费下滑才察觉，已错过干预窗口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02｜研究现状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国内外研究与缺口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排课优化与流失预测研究较深，算法成熟、数据驱动，但多为通用模型，缺少面向中小型培训机构的完整工程实现。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776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点状成果多（排课、考勤、收费各有系统），但普遍只覆盖单一环节，缺少把招生—排课—考勤—课时—财务—学情串起来的完整链路。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缺口：不是单点的算法不够好，而是拼不出一个完整、可上线、账目自洽的系统。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03｜研究内容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研究内容与范围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招生报名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在线报名 · 审核 · 分班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5544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排课调课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29000" y="202996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智能排课 · 冲突检测 · 调课审批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544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考勤课时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17920" y="202996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四态考勤 · 课时自动扣减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4436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2724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财务薪资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360273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 · 退费 · 薪资核算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94436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12724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学情考级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429000" y="360273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作业点评 · 成长档案 · 考级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94436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12724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运营统计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217920" y="360273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多维统计 · 流失预警 · 导出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六类角色协同，共用一套数据模型，形成业务闭环。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03｜研究内容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研究目标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64208"/>
            <a:ext cx="1371600" cy="402336"/>
          </a:xfrm>
          <a:prstGeom prst="roundRect">
            <a:avLst>
              <a:gd name="adj" fmla="val 20455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642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40280" y="151790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五类角色业务闭环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40280" y="192024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家长/教师/教务/财务/超管各司其职，数据互通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807208"/>
            <a:ext cx="1371600" cy="402336"/>
          </a:xfrm>
          <a:prstGeom prst="roundRect">
            <a:avLst>
              <a:gd name="adj" fmla="val 20455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8072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40280" y="266090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攻克四个技术难点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40280" y="306324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课时一致性、排课冲突、调课并发、薪资正确性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950208"/>
            <a:ext cx="1371600" cy="402336"/>
          </a:xfrm>
          <a:prstGeom prst="roundRect">
            <a:avLst>
              <a:gd name="adj" fmla="val 20455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502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40280" y="380390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可交付可运维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40280" y="420624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容器化部署上线，迁移/备份/发布门禁/可观测齐备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04｜架构与选型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总体架构</a:t>
            </a:r>
            <a:endParaRPr lang="en-US" sz="2500" dirty="0"/>
          </a:p>
        </p:txBody>
      </p:sp>
      <p:pic>
        <p:nvPicPr>
          <p:cNvPr id="5" name="Image 0" descr="D:\codegitee\educational-administration\.workbuddy\tmp\deck/assets/arch_1204x11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76" y="1280160"/>
            <a:ext cx="3570608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2040" y="1481328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B/S 架构</a:t>
            </a:r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管理后台：Vue 3 单页应用</a:t>
            </a:r>
            <a:endParaRPr lang="en-US" sz="14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移动端：uni-app（H5）</a:t>
            </a:r>
            <a:endParaRPr lang="en-US" sz="14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后端：统一 RESTful 接口 + RBAC 鉴权</a:t>
            </a:r>
            <a:endParaRPr lang="en-US" sz="14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数据：MySQL 8.0，结构变更由 Flyway 版本化管理</a:t>
            </a:r>
            <a:endParaRPr lang="en-US" sz="14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部署：Docker Compose 编排，Nginx/Caddy 反代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04｜架构与选型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技术选型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0" y="12344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0" y="12344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8379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 5 + Element Plus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83794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组件成熟、生态完善，适配数据密集页面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441448"/>
            <a:ext cx="8229600" cy="566928"/>
          </a:xfrm>
          <a:prstGeom prst="rect">
            <a:avLst/>
          </a:prstGeom>
          <a:solidFill>
            <a:srgbClr val="EEF1FB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414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44144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uni-app（Vue 3）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244144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一套代码编译多端，本次交付 H5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044952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449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04495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3.2.5 + MyBatis-Plus 3.5.7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04495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分层清晰，复杂统计 SQL 易表达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48456"/>
            <a:ext cx="8229600" cy="566928"/>
          </a:xfrm>
          <a:prstGeom prst="rect">
            <a:avLst/>
          </a:prstGeom>
          <a:solidFill>
            <a:srgbClr val="EEF1FB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4845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36484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 + Flyway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6484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强一致场景可靠，结构变更可版本化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519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2519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JWT(HS256) + RBAC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42519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无状态鉴权，五类角色接口级隔离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04｜架构与选型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数据模型</a:t>
            </a:r>
            <a:endParaRPr lang="en-US" sz="2500" dirty="0"/>
          </a:p>
        </p:txBody>
      </p:sp>
      <p:pic>
        <p:nvPicPr>
          <p:cNvPr id="5" name="Image 0" descr="D:\codegitee\educational-administration\.workbuddy\tmp\deck/assets/er_1568x9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3882"/>
            <a:ext cx="4754880" cy="28929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1325880"/>
            <a:ext cx="3154680" cy="32004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536192"/>
            <a:ext cx="2743200" cy="2788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张业务表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8 个业务域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后端 16 个模块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0 外键：一致性由关联表与唯一约束承担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逻辑删除 + 唯一键冲突有统一处理策略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05｜核心难点（得分重点）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难点一：课时不重扣、不漏扣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3852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1572768"/>
            <a:ext cx="621792" cy="402336"/>
          </a:xfrm>
          <a:prstGeom prst="roundRect">
            <a:avLst>
              <a:gd name="adj" fmla="val 20455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572768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21214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同一事务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25420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考勤 + 账户 + 流水一次提交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1371600"/>
            <a:ext cx="193852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36976" y="1572768"/>
            <a:ext cx="621792" cy="402336"/>
          </a:xfrm>
          <a:prstGeom prst="roundRect">
            <a:avLst>
              <a:gd name="adj" fmla="val 20455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1572768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24912" y="21214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24912" y="25420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版本号比对，更新 0 行即判冲突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0016" y="1371600"/>
            <a:ext cx="193852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58384" y="1572768"/>
            <a:ext cx="621792" cy="402336"/>
          </a:xfrm>
          <a:prstGeom prst="roundRect">
            <a:avLst>
              <a:gd name="adj" fmla="val 20455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8384" y="1572768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21214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幂等与回冲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46320" y="25420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重复提交不重复扣，退费按实际扣减量归还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21424" y="1371600"/>
            <a:ext cx="193852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79792" y="1572768"/>
            <a:ext cx="621792" cy="402336"/>
          </a:xfrm>
          <a:prstGeom prst="roundRect">
            <a:avLst>
              <a:gd name="adj" fmla="val 20455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9792" y="1572768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67728" y="21214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请假保护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67728" y="25420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已有请假记录不允许被覆盖（409）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结果：账目对得上——界面与数据库逐条对账一致（收费 24 课时：22→46；退费 2 课时：46→44）。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并发一致性测试：多条路径的乐观并发控制均有效，冲突请求被拒绝而非静默覆盖。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05｜核心难点（得分重点）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难点二：排课冲突检测要检得全</a:t>
            </a:r>
            <a:endParaRPr lang="en-US" sz="2500" dirty="0"/>
          </a:p>
        </p:txBody>
      </p:sp>
      <p:pic>
        <p:nvPicPr>
          <p:cNvPr id="5" name="Image 0" descr="D:\codegitee\educational-administration\.workbuddy\tmp\deck/assets/schedule_1920x10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3027"/>
            <a:ext cx="3931920" cy="2211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1325880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2040" y="15087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五维冲突检测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教师时间冲突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教室占用冲突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教室预约（非常规占用）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班级已排课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学员跨班时间冲突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智能排课按容量升序取首个无冲突教室；已取消、已调课的旧课次不参与冲突判定，避免“幽灵占用”。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05｜核心难点（得分重点）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难点三：拖拽调课的并发覆盖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B03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拖拽调课前后状态同为“待上课”，仅以状态做条件时恒真——两笔请求都能写入，先提交者的修改被静默覆盖。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2194560"/>
          </a:xfrm>
          <a:prstGeom prst="roundRect">
            <a:avLst>
              <a:gd name="adj" fmla="val 2500"/>
            </a:avLst>
          </a:prstGeom>
          <a:solidFill>
            <a:srgbClr val="EEF1FB"/>
          </a:solidFill>
          <a:ln w="12700">
            <a:solidFill>
              <a:srgbClr val="3D5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6304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在乐观条件里追加“原日期 + 原起止时间”。第二笔更新影响行数为 0 → 返回冲突提示。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5760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这个过程值得说：缺陷由测试发现 → 定位到“状态条件恒真” → 改条件 → 补回归测试防回退。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同类问题此后在全库状态机做了横向排查（报名审核、退费、薪资、考级），统一为带前置条件的原子更新。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05｜核心难点（得分重点）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难点四：薪资算得对且不可篡改</a:t>
            </a:r>
            <a:endParaRPr lang="en-US" sz="2500" dirty="0"/>
          </a:p>
        </p:txBody>
      </p:sp>
      <p:pic>
        <p:nvPicPr>
          <p:cNvPr id="5" name="Image 0" descr="D:\codegitee\educational-administration\.workbuddy\tmp\deck/assets/salary_1920x10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0168"/>
            <a:ext cx="3931920" cy="2211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1325880"/>
            <a:ext cx="40233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2040" y="150876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自动核算与状态机</a:t>
            </a:r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课次 → 班级 → 课程 → 薪资规则自动映射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仅“已完成且有到课/迟到”计薪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核算 → 确认 → 发放 → 撤销 四态受 CAS 保护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(教师, 月份) 唯一约束防重复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已确认的薪资单若被追溯修改，写入的是调整记录而非覆盖原金额——改动有痕、金额可追溯。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05｜核心难点（得分重点）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从统计升级为决策：流失预警</a:t>
            </a:r>
            <a:endParaRPr lang="en-US" sz="2500" dirty="0"/>
          </a:p>
        </p:txBody>
      </p:sp>
      <p:pic>
        <p:nvPicPr>
          <p:cNvPr id="5" name="Image 0" descr="D:\codegitee\educational-administration\.workbuddy\tmp\deck/assets/churn_1568x4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037" y="1280160"/>
            <a:ext cx="7067926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33756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五因子：到课沉寂度 · 缺勤倾向 · 课时余量 · 到期紧迫度 · 异常出勤（默认关闭）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输出高/中/低三档，并给出命中因子说明——可解释，便于教务据此跟进，而不是给一个黑箱分数。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05｜核心难点（得分重点）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运营看板与统计</a:t>
            </a:r>
            <a:endParaRPr lang="en-US" sz="2500" dirty="0"/>
          </a:p>
        </p:txBody>
      </p:sp>
      <p:pic>
        <p:nvPicPr>
          <p:cNvPr id="5" name="Image 0" descr="D:\codegitee\educational-administration\.workbuddy\tmp\deck/assets/dashboard_1920x10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5875"/>
            <a:ext cx="4937760" cy="27774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280160"/>
            <a:ext cx="301752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463040"/>
            <a:ext cx="260604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多维统计</a:t>
            </a:r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在册学员（按学员去重）</a:t>
            </a: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本月营收（净额）</a:t>
            </a: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本月课次 / 到课率</a:t>
            </a: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近 6 月趋势（ECharts）</a:t>
            </a: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报表导出（Excel）</a:t>
            </a: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按角色隔离数据可见范围。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05｜核心难点（得分重点）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移动端交付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学员家长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52044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在线报名（含决策快照）· 周课表 · 学情查看 · 课时账户与流水 · 请假申请 · 退费申请 · 消息中心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173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授课教师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52044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我的课表 · 课堂考勤（四态）· 考勤记录 · 学情管理 · 课时统计 · 调课申请 · 请假审批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交付形态：uni-app 编译的 H5（手机浏览器访问）；微信小程序因平台要求 HTTPS 与备案域名，未纳入本次交付。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06｜成果与验证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实现成果总览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539496"/>
          </a:xfrm>
          <a:prstGeom prst="rect">
            <a:avLst/>
          </a:prstGeom>
          <a:solidFill>
            <a:srgbClr val="1E2761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60350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10512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超级管理员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810512"/>
            <a:ext cx="60350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用户/角色/菜单权限、机构配置、公告、全局看板与流失预警、操作日志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86584"/>
            <a:ext cx="8229600" cy="539496"/>
          </a:xfrm>
          <a:prstGeom prst="rect">
            <a:avLst/>
          </a:prstGeom>
          <a:solidFill>
            <a:srgbClr val="EEF1FB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86584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教务管理员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386584"/>
            <a:ext cx="60350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课程班级、学员档案与分班转班、报名审核、智能排课与大课表、调课审核、考勤、考级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82296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62656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962656"/>
            <a:ext cx="60350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收费续费、退费审核、课时账户与流水、薪资规则与核算发放、营收统计与导出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538728"/>
            <a:ext cx="8229600" cy="539496"/>
          </a:xfrm>
          <a:prstGeom prst="rect">
            <a:avLst/>
          </a:prstGeom>
          <a:solidFill>
            <a:srgbClr val="EEF1FB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38728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授课教师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538728"/>
            <a:ext cx="60350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课表、课堂考勤、学情点评、课时统计、调课申请、请假审批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14800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学员家长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4114800"/>
            <a:ext cx="60350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在线报名、课表、学情、课时账户、请假、退费、消息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06｜成果与验证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测试体系与结果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66344"/>
          </a:xfrm>
          <a:prstGeom prst="rect">
            <a:avLst/>
          </a:prstGeom>
          <a:solidFill>
            <a:srgbClr val="1E2761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493776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0" y="118872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0" y="118872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493776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后端单元测试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169164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全通过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466344"/>
          </a:xfrm>
          <a:prstGeom prst="rect">
            <a:avLst/>
          </a:prstGeom>
          <a:solidFill>
            <a:srgbClr val="EEF1FB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493776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后端集成测试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19456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219456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全通过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82296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97480"/>
            <a:ext cx="493776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管理后台组件测试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69748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269748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全通过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466344"/>
          </a:xfrm>
          <a:prstGeom prst="rect">
            <a:avLst/>
          </a:prstGeom>
          <a:solidFill>
            <a:srgbClr val="EEF1FB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493776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移动端逻辑测试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20040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320040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全通过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82296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03320"/>
            <a:ext cx="493776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五角色授权矩阵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370332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370332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全通过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466344"/>
          </a:xfrm>
          <a:prstGeom prst="rect">
            <a:avLst/>
          </a:prstGeom>
          <a:solidFill>
            <a:srgbClr val="EEF1FB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206240"/>
            <a:ext cx="493776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UI 验收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420624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420624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全通过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8229600" cy="466344"/>
          </a:xfrm>
          <a:prstGeom prst="rect">
            <a:avLst/>
          </a:prstGeom>
          <a:solidFill>
            <a:srgbClr val="EEF1FB"/>
          </a:solidFill>
          <a:ln w="6350">
            <a:solidFill>
              <a:srgbClr val="E5E9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709160"/>
            <a:ext cx="493776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470916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470916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失败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06｜成果与验证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最有价值的一次缺陷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481328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48132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线上移动端缺少 v1.3 该有的功能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1481328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48132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首次部署复用了本地七月底构建的旧产物，未校验产物新鲜度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1481328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48132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牵连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顺线发现构建产物缺静态资源目录，底部导航图标全部 404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29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收获：测试不只是验证功能对不对，更会暴露流程与工程上的漏洞。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修复后重新构建部署，功能补全、图标恢复，接口验收 38 项复验全过。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07｜创新与不足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创新点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0876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全链条完整工程系统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947672"/>
            <a:ext cx="3621024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招生—排课—考勤—课时—财务—学情统一数据模型，而非单点工具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50876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并发一致性做成纪律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947672"/>
            <a:ext cx="3621024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全库状态机统一为带前置条件的原子更新，并配回归测试防回退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0896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可解释的多因子预警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3547872"/>
            <a:ext cx="3621024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给档位也给出命中原因，便于教务据此行动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92608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310896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健壮性做进交付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3547872"/>
            <a:ext cx="3621024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版本化迁移、加密备份与演练、发布门禁、可观测性一并落地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07｜创新与不足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不足与展望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52044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支付与短信为模拟实现，未接真实网关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单机部署，快照令牌仍在内存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未做性能压测，缺少容量基线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预警为规则引擎，非机器学习模型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77640" cy="3108960"/>
          </a:xfrm>
          <a:prstGeom prst="roundRect">
            <a:avLst>
              <a:gd name="adj" fmla="val 1765"/>
            </a:avLst>
          </a:prstGeom>
          <a:solidFill>
            <a:srgbClr val="EEF1FB"/>
          </a:solidFill>
          <a:ln w="12700">
            <a:solidFill>
              <a:srgbClr val="3D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173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52044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接入真实支付与短信通道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迁至分布式缓存与会话，支撑多实例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补充压测，明确并发拐点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引入数据驱动模型，保留规则兜底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艺术培训机构全流程教务管理平台的设计与实现 · 毕业答辩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3D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0"/>
            <a:ext cx="10973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账目对得上 · 并发扛得住 · 坏了查得到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566160" y="2240280"/>
            <a:ext cx="201168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系统已完成容器化部署并稳定运行，核心业务闭环经数据库逐项对账一致。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以上是我的毕业设计汇报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恳请各位老师批评指正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2026-10-05T04:44:13Z</dcterms:created>
  <dcterms:modified xsi:type="dcterms:W3CDTF">2026-10-05T04:44:13Z</dcterms:modified>
</cp:coreProperties>
</file>